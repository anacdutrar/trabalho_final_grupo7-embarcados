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ptos Bold" charset="1" panose="020B0004020202020204"/>
      <p:regular r:id="rId20"/>
    </p:embeddedFont>
    <p:embeddedFont>
      <p:font typeface="Aptos" charset="1" panose="020B0004020202020204"/>
      <p:regular r:id="rId21"/>
    </p:embeddedFont>
    <p:embeddedFont>
      <p:font typeface="Aptos Italics" charset="1" panose="020B000402020209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0256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7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552" y="384048"/>
            <a:ext cx="7818120" cy="274320"/>
            <a:chOff x="0" y="0"/>
            <a:chExt cx="1042416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424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22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EMBARCADA  /  PROJETO FINAL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0" y="384048"/>
            <a:ext cx="4389120" cy="274320"/>
            <a:chOff x="0" y="0"/>
            <a:chExt cx="585216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55"/>
                </a:lnSpc>
              </a:pPr>
              <a:r>
                <a:rPr lang="en-US" b="true" sz="1380" spc="16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  ·  GALAXY WATCH6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020">
            <a:off x="978017" y="859345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020">
            <a:off x="978017" y="9719882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1268" y="1482259"/>
            <a:ext cx="8846820" cy="2503382"/>
            <a:chOff x="0" y="0"/>
            <a:chExt cx="11795760" cy="33378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95760" cy="3337843"/>
            </a:xfrm>
            <a:custGeom>
              <a:avLst/>
              <a:gdLst/>
              <a:ahLst/>
              <a:cxnLst/>
              <a:rect r="r" b="b" t="t" l="l"/>
              <a:pathLst>
                <a:path h="3337843" w="11795760">
                  <a:moveTo>
                    <a:pt x="0" y="0"/>
                  </a:moveTo>
                  <a:lnTo>
                    <a:pt x="11795760" y="0"/>
                  </a:lnTo>
                  <a:lnTo>
                    <a:pt x="11795760" y="3337843"/>
                  </a:lnTo>
                  <a:lnTo>
                    <a:pt x="0" y="33378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30" r="0" b="125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1795760" cy="3347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Reconhecimento de atividades humanas com IA embarcada em smartwatch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3136" y="6607683"/>
            <a:ext cx="8847201" cy="1030224"/>
            <a:chOff x="0" y="0"/>
            <a:chExt cx="11796268" cy="13736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96268" cy="1373632"/>
            </a:xfrm>
            <a:custGeom>
              <a:avLst/>
              <a:gdLst/>
              <a:ahLst/>
              <a:cxnLst/>
              <a:rect r="r" b="b" t="t" l="l"/>
              <a:pathLst>
                <a:path h="1373632" w="11796268">
                  <a:moveTo>
                    <a:pt x="0" y="222758"/>
                  </a:moveTo>
                  <a:cubicBezTo>
                    <a:pt x="0" y="99695"/>
                    <a:pt x="206698" y="0"/>
                    <a:pt x="461845" y="0"/>
                  </a:cubicBezTo>
                  <a:lnTo>
                    <a:pt x="11334423" y="0"/>
                  </a:lnTo>
                  <a:cubicBezTo>
                    <a:pt x="11589570" y="0"/>
                    <a:pt x="11796268" y="99695"/>
                    <a:pt x="11796268" y="222758"/>
                  </a:cubicBezTo>
                  <a:lnTo>
                    <a:pt x="11796268" y="1150874"/>
                  </a:lnTo>
                  <a:cubicBezTo>
                    <a:pt x="11796268" y="1273937"/>
                    <a:pt x="11589570" y="1373632"/>
                    <a:pt x="11334423" y="1373632"/>
                  </a:cubicBezTo>
                  <a:lnTo>
                    <a:pt x="461845" y="1373632"/>
                  </a:lnTo>
                  <a:cubicBezTo>
                    <a:pt x="206698" y="1373632"/>
                    <a:pt x="0" y="1273937"/>
                    <a:pt x="0" y="1150874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60212" y="6786453"/>
            <a:ext cx="2094738" cy="617469"/>
            <a:chOff x="0" y="0"/>
            <a:chExt cx="2792984" cy="8232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92984" cy="823292"/>
            </a:xfrm>
            <a:custGeom>
              <a:avLst/>
              <a:gdLst/>
              <a:ahLst/>
              <a:cxnLst/>
              <a:rect r="r" b="b" t="t" l="l"/>
              <a:pathLst>
                <a:path h="823292" w="2792984">
                  <a:moveTo>
                    <a:pt x="0" y="0"/>
                  </a:moveTo>
                  <a:lnTo>
                    <a:pt x="2792984" y="0"/>
                  </a:lnTo>
                  <a:lnTo>
                    <a:pt x="2792984" y="823292"/>
                  </a:lnTo>
                  <a:lnTo>
                    <a:pt x="0" y="8232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27" r="27973" b="1240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792984" cy="823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Professor: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89373" y="6607683"/>
            <a:ext cx="6123527" cy="1030224"/>
            <a:chOff x="0" y="0"/>
            <a:chExt cx="8164702" cy="13736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64702" cy="1373632"/>
            </a:xfrm>
            <a:custGeom>
              <a:avLst/>
              <a:gdLst/>
              <a:ahLst/>
              <a:cxnLst/>
              <a:rect r="r" b="b" t="t" l="l"/>
              <a:pathLst>
                <a:path h="1373632" w="8164702">
                  <a:moveTo>
                    <a:pt x="0" y="222758"/>
                  </a:moveTo>
                  <a:cubicBezTo>
                    <a:pt x="0" y="99695"/>
                    <a:pt x="143065" y="0"/>
                    <a:pt x="319663" y="0"/>
                  </a:cubicBezTo>
                  <a:lnTo>
                    <a:pt x="7845040" y="0"/>
                  </a:lnTo>
                  <a:cubicBezTo>
                    <a:pt x="8021638" y="0"/>
                    <a:pt x="8164702" y="99695"/>
                    <a:pt x="8164702" y="222758"/>
                  </a:cubicBezTo>
                  <a:lnTo>
                    <a:pt x="8164702" y="1150874"/>
                  </a:lnTo>
                  <a:cubicBezTo>
                    <a:pt x="8164702" y="1273937"/>
                    <a:pt x="8021638" y="1373632"/>
                    <a:pt x="7845040" y="1373632"/>
                  </a:cubicBezTo>
                  <a:lnTo>
                    <a:pt x="319663" y="1373632"/>
                  </a:lnTo>
                  <a:cubicBezTo>
                    <a:pt x="143065" y="1373632"/>
                    <a:pt x="0" y="1273937"/>
                    <a:pt x="0" y="1150874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3966657" y="6774333"/>
            <a:ext cx="5874031" cy="562407"/>
            <a:chOff x="0" y="0"/>
            <a:chExt cx="5157216" cy="4937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57216" cy="493776"/>
            </a:xfrm>
            <a:custGeom>
              <a:avLst/>
              <a:gdLst/>
              <a:ahLst/>
              <a:cxnLst/>
              <a:rect r="r" b="b" t="t" l="l"/>
              <a:pathLst>
                <a:path h="493776" w="5157216">
                  <a:moveTo>
                    <a:pt x="0" y="0"/>
                  </a:moveTo>
                  <a:lnTo>
                    <a:pt x="5157216" y="0"/>
                  </a:lnTo>
                  <a:lnTo>
                    <a:pt x="515721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456" r="36879" b="-7845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5157216" cy="4842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7"/>
                </a:lnSpc>
              </a:pPr>
              <a:r>
                <a:rPr lang="en-US" sz="223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Ro</a:t>
              </a:r>
              <a:r>
                <a:rPr lang="en-US" sz="223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drigo Kobashikawa Rosa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0573" y="7828407"/>
            <a:ext cx="4267200" cy="1457325"/>
            <a:chOff x="0" y="0"/>
            <a:chExt cx="5689600" cy="1943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896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5689600">
                  <a:moveTo>
                    <a:pt x="0" y="315107"/>
                  </a:moveTo>
                  <a:cubicBezTo>
                    <a:pt x="0" y="141026"/>
                    <a:pt x="99695" y="0"/>
                    <a:pt x="222758" y="0"/>
                  </a:cubicBezTo>
                  <a:lnTo>
                    <a:pt x="5466842" y="0"/>
                  </a:lnTo>
                  <a:cubicBezTo>
                    <a:pt x="5589905" y="0"/>
                    <a:pt x="5689600" y="141026"/>
                    <a:pt x="5689600" y="315107"/>
                  </a:cubicBezTo>
                  <a:lnTo>
                    <a:pt x="5689600" y="1627993"/>
                  </a:lnTo>
                  <a:cubicBezTo>
                    <a:pt x="5689600" y="1802074"/>
                    <a:pt x="5589905" y="1943100"/>
                    <a:pt x="5466842" y="1943100"/>
                  </a:cubicBezTo>
                  <a:lnTo>
                    <a:pt x="222758" y="1943100"/>
                  </a:lnTo>
                  <a:cubicBezTo>
                    <a:pt x="99695" y="1943100"/>
                    <a:pt x="0" y="1802074"/>
                    <a:pt x="0" y="1627993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527649" y="8201152"/>
            <a:ext cx="1508760" cy="617469"/>
            <a:chOff x="0" y="0"/>
            <a:chExt cx="2011680" cy="8232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11680" cy="823292"/>
            </a:xfrm>
            <a:custGeom>
              <a:avLst/>
              <a:gdLst/>
              <a:ahLst/>
              <a:cxnLst/>
              <a:rect r="r" b="b" t="t" l="l"/>
              <a:pathLst>
                <a:path h="823292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823292"/>
                  </a:lnTo>
                  <a:lnTo>
                    <a:pt x="0" y="8232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27" r="0" b="124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011680" cy="823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Equipe: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434173" y="7828407"/>
            <a:ext cx="6646164" cy="1457325"/>
            <a:chOff x="0" y="0"/>
            <a:chExt cx="8861552" cy="1943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61552" cy="1943100"/>
            </a:xfrm>
            <a:custGeom>
              <a:avLst/>
              <a:gdLst/>
              <a:ahLst/>
              <a:cxnLst/>
              <a:rect r="r" b="b" t="t" l="l"/>
              <a:pathLst>
                <a:path h="1943100" w="8861552">
                  <a:moveTo>
                    <a:pt x="0" y="315107"/>
                  </a:moveTo>
                  <a:cubicBezTo>
                    <a:pt x="0" y="141026"/>
                    <a:pt x="155275" y="0"/>
                    <a:pt x="346946" y="0"/>
                  </a:cubicBezTo>
                  <a:lnTo>
                    <a:pt x="8514607" y="0"/>
                  </a:lnTo>
                  <a:cubicBezTo>
                    <a:pt x="8706277" y="0"/>
                    <a:pt x="8861552" y="141026"/>
                    <a:pt x="8861552" y="315107"/>
                  </a:cubicBezTo>
                  <a:lnTo>
                    <a:pt x="8861552" y="1627993"/>
                  </a:lnTo>
                  <a:cubicBezTo>
                    <a:pt x="8861552" y="1802074"/>
                    <a:pt x="8706277" y="1943100"/>
                    <a:pt x="8514607" y="1943100"/>
                  </a:cubicBezTo>
                  <a:lnTo>
                    <a:pt x="346946" y="1943100"/>
                  </a:lnTo>
                  <a:cubicBezTo>
                    <a:pt x="155275" y="1943100"/>
                    <a:pt x="0" y="1802074"/>
                    <a:pt x="0" y="1627993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3622387" y="8048881"/>
            <a:ext cx="6178054" cy="1083052"/>
            <a:chOff x="0" y="0"/>
            <a:chExt cx="8237406" cy="14440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37406" cy="1444069"/>
            </a:xfrm>
            <a:custGeom>
              <a:avLst/>
              <a:gdLst/>
              <a:ahLst/>
              <a:cxnLst/>
              <a:rect r="r" b="b" t="t" l="l"/>
              <a:pathLst>
                <a:path h="1444069" w="8237406">
                  <a:moveTo>
                    <a:pt x="0" y="0"/>
                  </a:moveTo>
                  <a:lnTo>
                    <a:pt x="8237406" y="0"/>
                  </a:lnTo>
                  <a:lnTo>
                    <a:pt x="8237406" y="1444069"/>
                  </a:lnTo>
                  <a:lnTo>
                    <a:pt x="0" y="1444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27" r="60481" b="3897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8237406" cy="1434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7"/>
                </a:lnSpc>
              </a:pPr>
              <a:r>
                <a:rPr lang="en-US" sz="223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Ana Carolina Dutra Ramo</a:t>
              </a:r>
              <a:r>
                <a:rPr lang="en-US" sz="223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s</a:t>
              </a:r>
            </a:p>
            <a:p>
              <a:pPr algn="l">
                <a:lnSpc>
                  <a:spcPts val="2687"/>
                </a:lnSpc>
              </a:pPr>
              <a:r>
                <a:rPr lang="en-US" sz="223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Camila Gois de Jesus</a:t>
              </a:r>
            </a:p>
            <a:p>
              <a:pPr algn="l">
                <a:lnSpc>
                  <a:spcPts val="2687"/>
                </a:lnSpc>
              </a:pPr>
              <a:r>
                <a:rPr lang="en-US" sz="223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Guilherme Magalhães Júnior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223879" y="1567815"/>
            <a:ext cx="6040374" cy="7686294"/>
            <a:chOff x="0" y="0"/>
            <a:chExt cx="8053832" cy="102483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53832" cy="10248392"/>
            </a:xfrm>
            <a:custGeom>
              <a:avLst/>
              <a:gdLst/>
              <a:ahLst/>
              <a:cxnLst/>
              <a:rect r="r" b="b" t="t" l="l"/>
              <a:pathLst>
                <a:path h="10248392" w="8053832">
                  <a:moveTo>
                    <a:pt x="0" y="403606"/>
                  </a:moveTo>
                  <a:cubicBezTo>
                    <a:pt x="0" y="180721"/>
                    <a:pt x="180721" y="0"/>
                    <a:pt x="403606" y="0"/>
                  </a:cubicBezTo>
                  <a:lnTo>
                    <a:pt x="7650226" y="0"/>
                  </a:lnTo>
                  <a:cubicBezTo>
                    <a:pt x="7873111" y="0"/>
                    <a:pt x="8053832" y="180721"/>
                    <a:pt x="8053832" y="403606"/>
                  </a:cubicBezTo>
                  <a:lnTo>
                    <a:pt x="8053832" y="9844787"/>
                  </a:lnTo>
                  <a:cubicBezTo>
                    <a:pt x="8053832" y="10067672"/>
                    <a:pt x="7873111" y="10248392"/>
                    <a:pt x="7650226" y="10248392"/>
                  </a:cubicBezTo>
                  <a:lnTo>
                    <a:pt x="403606" y="10248392"/>
                  </a:lnTo>
                  <a:cubicBezTo>
                    <a:pt x="180721" y="10248392"/>
                    <a:pt x="0" y="10067671"/>
                    <a:pt x="0" y="9844786"/>
                  </a:cubicBezTo>
                  <a:close/>
                </a:path>
              </a:pathLst>
            </a:custGeom>
            <a:solidFill>
              <a:srgbClr val="E8F3E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033123" y="2034159"/>
            <a:ext cx="4517898" cy="4517898"/>
            <a:chOff x="0" y="0"/>
            <a:chExt cx="6023864" cy="60238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23864" cy="6023864"/>
            </a:xfrm>
            <a:custGeom>
              <a:avLst/>
              <a:gdLst/>
              <a:ahLst/>
              <a:cxnLst/>
              <a:rect r="r" b="b" t="t" l="l"/>
              <a:pathLst>
                <a:path h="6023864" w="6023864">
                  <a:moveTo>
                    <a:pt x="0" y="3011932"/>
                  </a:moveTo>
                  <a:cubicBezTo>
                    <a:pt x="0" y="1348486"/>
                    <a:pt x="1348486" y="0"/>
                    <a:pt x="3011932" y="0"/>
                  </a:cubicBezTo>
                  <a:cubicBezTo>
                    <a:pt x="4675378" y="0"/>
                    <a:pt x="6023864" y="1348486"/>
                    <a:pt x="6023864" y="3011932"/>
                  </a:cubicBezTo>
                  <a:cubicBezTo>
                    <a:pt x="6023864" y="4675378"/>
                    <a:pt x="4675378" y="6023864"/>
                    <a:pt x="3011932" y="6023864"/>
                  </a:cubicBezTo>
                  <a:cubicBezTo>
                    <a:pt x="1348486" y="6023864"/>
                    <a:pt x="0" y="4675378"/>
                    <a:pt x="0" y="3011932"/>
                  </a:cubicBezTo>
                  <a:close/>
                </a:path>
              </a:pathLst>
            </a:custGeom>
            <a:solidFill>
              <a:srgbClr val="D4EAE4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102971" y="1732407"/>
            <a:ext cx="2378202" cy="1500378"/>
            <a:chOff x="0" y="0"/>
            <a:chExt cx="3170936" cy="20005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170936" cy="2000504"/>
            </a:xfrm>
            <a:custGeom>
              <a:avLst/>
              <a:gdLst/>
              <a:ahLst/>
              <a:cxnLst/>
              <a:rect r="r" b="b" t="t" l="l"/>
              <a:pathLst>
                <a:path h="2000504" w="3170936">
                  <a:moveTo>
                    <a:pt x="0" y="351917"/>
                  </a:moveTo>
                  <a:cubicBezTo>
                    <a:pt x="0" y="157607"/>
                    <a:pt x="157607" y="0"/>
                    <a:pt x="351917" y="0"/>
                  </a:cubicBezTo>
                  <a:lnTo>
                    <a:pt x="2819019" y="0"/>
                  </a:lnTo>
                  <a:cubicBezTo>
                    <a:pt x="3013456" y="0"/>
                    <a:pt x="3170936" y="157607"/>
                    <a:pt x="3170936" y="351917"/>
                  </a:cubicBezTo>
                  <a:lnTo>
                    <a:pt x="3170936" y="1648587"/>
                  </a:lnTo>
                  <a:cubicBezTo>
                    <a:pt x="3170936" y="1843024"/>
                    <a:pt x="3013329" y="2000504"/>
                    <a:pt x="2819019" y="2000504"/>
                  </a:cubicBezTo>
                  <a:lnTo>
                    <a:pt x="351917" y="2000504"/>
                  </a:lnTo>
                  <a:cubicBezTo>
                    <a:pt x="157607" y="2000504"/>
                    <a:pt x="0" y="1842897"/>
                    <a:pt x="0" y="1648587"/>
                  </a:cubicBezTo>
                  <a:close/>
                </a:path>
              </a:pathLst>
            </a:custGeom>
            <a:solidFill>
              <a:srgbClr val="102C3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102971" y="7657719"/>
            <a:ext cx="2378202" cy="1198626"/>
            <a:chOff x="0" y="0"/>
            <a:chExt cx="3170936" cy="15981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70936" cy="1598168"/>
            </a:xfrm>
            <a:custGeom>
              <a:avLst/>
              <a:gdLst/>
              <a:ahLst/>
              <a:cxnLst/>
              <a:rect r="r" b="b" t="t" l="l"/>
              <a:pathLst>
                <a:path h="1598168" w="3170936">
                  <a:moveTo>
                    <a:pt x="0" y="334518"/>
                  </a:moveTo>
                  <a:cubicBezTo>
                    <a:pt x="0" y="149733"/>
                    <a:pt x="149733" y="0"/>
                    <a:pt x="334518" y="0"/>
                  </a:cubicBezTo>
                  <a:lnTo>
                    <a:pt x="2836418" y="0"/>
                  </a:lnTo>
                  <a:cubicBezTo>
                    <a:pt x="3021203" y="0"/>
                    <a:pt x="3170936" y="149733"/>
                    <a:pt x="3170936" y="334518"/>
                  </a:cubicBezTo>
                  <a:lnTo>
                    <a:pt x="3170936" y="1263650"/>
                  </a:lnTo>
                  <a:cubicBezTo>
                    <a:pt x="3170936" y="1448435"/>
                    <a:pt x="3021203" y="1598168"/>
                    <a:pt x="2836418" y="1598168"/>
                  </a:cubicBezTo>
                  <a:lnTo>
                    <a:pt x="334518" y="1598168"/>
                  </a:lnTo>
                  <a:cubicBezTo>
                    <a:pt x="149733" y="1598168"/>
                    <a:pt x="0" y="1448435"/>
                    <a:pt x="0" y="1263650"/>
                  </a:cubicBezTo>
                  <a:close/>
                </a:path>
              </a:pathLst>
            </a:custGeom>
            <a:solidFill>
              <a:srgbClr val="102C3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485751" y="2678811"/>
            <a:ext cx="3640074" cy="5354574"/>
            <a:chOff x="0" y="0"/>
            <a:chExt cx="4853432" cy="71394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53432" cy="7139432"/>
            </a:xfrm>
            <a:custGeom>
              <a:avLst/>
              <a:gdLst/>
              <a:ahLst/>
              <a:cxnLst/>
              <a:rect r="r" b="b" t="t" l="l"/>
              <a:pathLst>
                <a:path h="7139432" w="4853432">
                  <a:moveTo>
                    <a:pt x="0" y="606679"/>
                  </a:moveTo>
                  <a:cubicBezTo>
                    <a:pt x="0" y="271653"/>
                    <a:pt x="271653" y="0"/>
                    <a:pt x="606679" y="0"/>
                  </a:cubicBezTo>
                  <a:lnTo>
                    <a:pt x="4246753" y="0"/>
                  </a:lnTo>
                  <a:cubicBezTo>
                    <a:pt x="4581779" y="0"/>
                    <a:pt x="4853432" y="271653"/>
                    <a:pt x="4853432" y="606679"/>
                  </a:cubicBezTo>
                  <a:lnTo>
                    <a:pt x="4853432" y="6532753"/>
                  </a:lnTo>
                  <a:cubicBezTo>
                    <a:pt x="4853432" y="6867779"/>
                    <a:pt x="4581779" y="7139432"/>
                    <a:pt x="4246753" y="7139432"/>
                  </a:cubicBezTo>
                  <a:lnTo>
                    <a:pt x="606679" y="7139432"/>
                  </a:lnTo>
                  <a:cubicBezTo>
                    <a:pt x="271653" y="7139432"/>
                    <a:pt x="0" y="6867779"/>
                    <a:pt x="0" y="6532753"/>
                  </a:cubicBezTo>
                  <a:close/>
                </a:path>
              </a:pathLst>
            </a:custGeom>
            <a:solidFill>
              <a:srgbClr val="233C4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705207" y="2939415"/>
            <a:ext cx="3201162" cy="4805934"/>
            <a:chOff x="0" y="0"/>
            <a:chExt cx="4268216" cy="64079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68216" cy="6407912"/>
            </a:xfrm>
            <a:custGeom>
              <a:avLst/>
              <a:gdLst/>
              <a:ahLst/>
              <a:cxnLst/>
              <a:rect r="r" b="b" t="t" l="l"/>
              <a:pathLst>
                <a:path h="6407912" w="4268216">
                  <a:moveTo>
                    <a:pt x="0" y="441579"/>
                  </a:moveTo>
                  <a:cubicBezTo>
                    <a:pt x="0" y="197739"/>
                    <a:pt x="197739" y="0"/>
                    <a:pt x="441579" y="0"/>
                  </a:cubicBezTo>
                  <a:lnTo>
                    <a:pt x="3826637" y="0"/>
                  </a:lnTo>
                  <a:cubicBezTo>
                    <a:pt x="4070477" y="0"/>
                    <a:pt x="4268216" y="197739"/>
                    <a:pt x="4268216" y="441579"/>
                  </a:cubicBezTo>
                  <a:lnTo>
                    <a:pt x="4268216" y="5966333"/>
                  </a:lnTo>
                  <a:cubicBezTo>
                    <a:pt x="4268216" y="6210173"/>
                    <a:pt x="4070477" y="6407912"/>
                    <a:pt x="3826637" y="6407912"/>
                  </a:cubicBezTo>
                  <a:lnTo>
                    <a:pt x="441579" y="6407912"/>
                  </a:lnTo>
                  <a:cubicBezTo>
                    <a:pt x="197739" y="6407912"/>
                    <a:pt x="0" y="6210173"/>
                    <a:pt x="0" y="5966333"/>
                  </a:cubicBezTo>
                  <a:close/>
                </a:path>
              </a:pathLst>
            </a:custGeom>
            <a:solidFill>
              <a:srgbClr val="0B202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043916" y="3401568"/>
            <a:ext cx="2578608" cy="397764"/>
            <a:chOff x="0" y="0"/>
            <a:chExt cx="3438144" cy="5303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38144" cy="530352"/>
            </a:xfrm>
            <a:custGeom>
              <a:avLst/>
              <a:gdLst/>
              <a:ahLst/>
              <a:cxnLst/>
              <a:rect r="r" b="b" t="t" l="l"/>
              <a:pathLst>
                <a:path h="530352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316" r="0" b="-7631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438144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B9E5D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MOVIMENTO / 20 Hz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3981480">
            <a:off x="12918624" y="5272526"/>
            <a:ext cx="275882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rot="3564840">
            <a:off x="13028000" y="5461997"/>
            <a:ext cx="217427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rot="2056680">
            <a:off x="13149920" y="5562810"/>
            <a:ext cx="133883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rot="3144900">
            <a:off x="13687244" y="4804781"/>
            <a:ext cx="181385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rot="3871560">
            <a:off x="13729478" y="4962287"/>
            <a:ext cx="257223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rot="4022700">
            <a:off x="13796410" y="5178514"/>
            <a:ext cx="283664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rot="3811440">
            <a:off x="13894318" y="5389702"/>
            <a:ext cx="248155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 rot="2930100">
            <a:off x="14014513" y="5533549"/>
            <a:ext cx="168078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rot="2424240">
            <a:off x="14586976" y="4768063"/>
            <a:ext cx="145285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 rot="3668760">
            <a:off x="14625142" y="4885058"/>
            <a:ext cx="229257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 rot="4003440">
            <a:off x="14679940" y="5083569"/>
            <a:ext cx="279968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 rot="3950819">
            <a:off x="14764883" y="5305034"/>
            <a:ext cx="270377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 rot="3439140">
            <a:off x="14877783" y="5484143"/>
            <a:ext cx="204892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 rot="1618980">
            <a:off x="14998313" y="5568058"/>
            <a:ext cx="124149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rot="1224300">
            <a:off x="15482278" y="4752623"/>
            <a:ext cx="118043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rot="2056680">
            <a:off x="12989614" y="5933142"/>
            <a:ext cx="133883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rot="3144900">
            <a:off x="13526938" y="5175113"/>
            <a:ext cx="181385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rot="3871560">
            <a:off x="13569172" y="5332619"/>
            <a:ext cx="257223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rot="4022700">
            <a:off x="13636104" y="5548846"/>
            <a:ext cx="283664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 rot="3811440">
            <a:off x="13734012" y="5760034"/>
            <a:ext cx="248155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 rot="2930100">
            <a:off x="13854208" y="5903881"/>
            <a:ext cx="168078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rot="2424240">
            <a:off x="14426670" y="5138395"/>
            <a:ext cx="145285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rot="3668760">
            <a:off x="14464836" y="5255390"/>
            <a:ext cx="229257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rot="4003440">
            <a:off x="14519634" y="5453901"/>
            <a:ext cx="279968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rot="3950819">
            <a:off x="14604578" y="5675366"/>
            <a:ext cx="270377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rot="3439140">
            <a:off x="14717478" y="5854475"/>
            <a:ext cx="204892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rot="1618980">
            <a:off x="14838007" y="5938390"/>
            <a:ext cx="124149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rot="1224300">
            <a:off x="15321972" y="5122955"/>
            <a:ext cx="118043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rot="3321780">
            <a:off x="15363825" y="5193125"/>
            <a:ext cx="194643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rot="3919980">
            <a:off x="15408754" y="5363175"/>
            <a:ext cx="265090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rot="3144900">
            <a:off x="13366633" y="4448165"/>
            <a:ext cx="181385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rot="3871560">
            <a:off x="13408866" y="4605671"/>
            <a:ext cx="257223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4022700">
            <a:off x="13475799" y="4821898"/>
            <a:ext cx="283664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rot="3811440">
            <a:off x="13573706" y="5033086"/>
            <a:ext cx="248155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rot="2930100">
            <a:off x="13693902" y="5176933"/>
            <a:ext cx="168078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rot="2424240">
            <a:off x="14266364" y="4411447"/>
            <a:ext cx="145285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rot="3668760">
            <a:off x="14304531" y="4528442"/>
            <a:ext cx="229257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rot="4003440">
            <a:off x="14359328" y="4726953"/>
            <a:ext cx="279968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rot="3950819">
            <a:off x="14444272" y="4948418"/>
            <a:ext cx="270377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 rot="3439140">
            <a:off x="14557172" y="5127527"/>
            <a:ext cx="204892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rot="1618980">
            <a:off x="14677701" y="5211442"/>
            <a:ext cx="124149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rot="1224300">
            <a:off x="15161666" y="4396007"/>
            <a:ext cx="118043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rot="3321780">
            <a:off x="15203519" y="4466177"/>
            <a:ext cx="194643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rot="3919980">
            <a:off x="15248449" y="4636227"/>
            <a:ext cx="265090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 rot="4015020">
            <a:off x="15320058" y="4855988"/>
            <a:ext cx="282178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rot="3737820">
            <a:off x="15422308" y="5060652"/>
            <a:ext cx="237973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rot="24960">
            <a:off x="13006921" y="6510338"/>
            <a:ext cx="2625157" cy="0"/>
          </a:xfrm>
          <a:prstGeom prst="line">
            <a:avLst/>
          </a:prstGeom>
          <a:ln cap="rnd" w="9525">
            <a:solidFill>
              <a:srgbClr val="3A62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7" id="97"/>
          <p:cNvGrpSpPr/>
          <p:nvPr/>
        </p:nvGrpSpPr>
        <p:grpSpPr>
          <a:xfrm rot="0">
            <a:off x="13030200" y="6816852"/>
            <a:ext cx="2592324" cy="329184"/>
            <a:chOff x="0" y="0"/>
            <a:chExt cx="3456432" cy="43891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456432" cy="438912"/>
            </a:xfrm>
            <a:custGeom>
              <a:avLst/>
              <a:gdLst/>
              <a:ahLst/>
              <a:cxnLst/>
              <a:rect r="r" b="b" t="t" l="l"/>
              <a:pathLst>
                <a:path h="438912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345643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D7EBE6"/>
                  </a:solidFill>
                  <a:latin typeface="Aptos"/>
                  <a:ea typeface="Aptos"/>
                  <a:cs typeface="Aptos"/>
                  <a:sym typeface="Aptos"/>
                </a:rPr>
                <a:t>ACC  X / Y / Z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3030200" y="7173468"/>
            <a:ext cx="2592324" cy="329184"/>
            <a:chOff x="0" y="0"/>
            <a:chExt cx="3456432" cy="43891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456432" cy="438912"/>
            </a:xfrm>
            <a:custGeom>
              <a:avLst/>
              <a:gdLst/>
              <a:ahLst/>
              <a:cxnLst/>
              <a:rect r="r" b="b" t="t" l="l"/>
              <a:pathLst>
                <a:path h="438912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345643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D7EBE6"/>
                  </a:solidFill>
                  <a:latin typeface="Aptos"/>
                  <a:ea typeface="Aptos"/>
                  <a:cs typeface="Aptos"/>
                  <a:sym typeface="Aptos"/>
                </a:rPr>
                <a:t>GYRO X / Y / Z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1713464" y="8942832"/>
            <a:ext cx="5074920" cy="274320"/>
            <a:chOff x="0" y="0"/>
            <a:chExt cx="6766560" cy="36576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766560" cy="365760"/>
            </a:xfrm>
            <a:custGeom>
              <a:avLst/>
              <a:gdLst/>
              <a:ahLst/>
              <a:cxnLst/>
              <a:rect r="r" b="b" t="t" l="l"/>
              <a:pathLst>
                <a:path h="3657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67665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4"/>
                </a:lnSpc>
              </a:pPr>
              <a:r>
                <a:rPr lang="en-US" sz="132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Fonte: WISDM / UCI Machine Learning Repository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7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552" y="384048"/>
            <a:ext cx="7818120" cy="274320"/>
            <a:chOff x="0" y="0"/>
            <a:chExt cx="1042416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424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22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EMBARCADA  /  PROJETO FINAL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0" y="384048"/>
            <a:ext cx="4389120" cy="274320"/>
            <a:chOff x="0" y="0"/>
            <a:chExt cx="585216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55"/>
                </a:lnSpc>
              </a:pPr>
              <a:r>
                <a:rPr lang="en-US" b="true" sz="1380" spc="16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  ·  GALAXY WATCH6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020">
            <a:off x="978017" y="859345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020">
            <a:off x="978017" y="9719882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1268" y="9820656"/>
            <a:ext cx="10012680" cy="205740"/>
            <a:chOff x="0" y="0"/>
            <a:chExt cx="1335024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0239" cy="274320"/>
            </a:xfrm>
            <a:custGeom>
              <a:avLst/>
              <a:gdLst/>
              <a:ahLst/>
              <a:cxnLst/>
              <a:rect r="r" b="b" t="t" l="l"/>
              <a:pathLst>
                <a:path h="27432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71" r="0" b="-89827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350240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spc="21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BASE DE DADOS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1425537"/>
            <a:ext cx="10077069" cy="1102398"/>
            <a:chOff x="0" y="0"/>
            <a:chExt cx="13436092" cy="14698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36092" cy="1469864"/>
            </a:xfrm>
            <a:custGeom>
              <a:avLst/>
              <a:gdLst/>
              <a:ahLst/>
              <a:cxnLst/>
              <a:rect r="r" b="b" t="t" l="l"/>
              <a:pathLst>
                <a:path h="1469864" w="13436092">
                  <a:moveTo>
                    <a:pt x="0" y="0"/>
                  </a:moveTo>
                  <a:lnTo>
                    <a:pt x="13436092" y="0"/>
                  </a:lnTo>
                  <a:lnTo>
                    <a:pt x="13436092" y="1469864"/>
                  </a:lnTo>
                  <a:lnTo>
                    <a:pt x="0" y="1469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772" r="8805" b="-10908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436092" cy="1469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40"/>
                </a:lnSpc>
              </a:pPr>
              <a:r>
                <a:rPr lang="en-US" sz="29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Reconhecimento de atividade humana com IA embarcada em smartwatch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2416" y="2646045"/>
            <a:ext cx="2666238" cy="526542"/>
            <a:chOff x="0" y="0"/>
            <a:chExt cx="3554984" cy="7020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54984" cy="701929"/>
            </a:xfrm>
            <a:custGeom>
              <a:avLst/>
              <a:gdLst/>
              <a:ahLst/>
              <a:cxnLst/>
              <a:rect r="r" b="b" t="t" l="l"/>
              <a:pathLst>
                <a:path h="701929" w="3554984">
                  <a:moveTo>
                    <a:pt x="0" y="303530"/>
                  </a:moveTo>
                  <a:cubicBezTo>
                    <a:pt x="0" y="135890"/>
                    <a:pt x="135890" y="0"/>
                    <a:pt x="303530" y="0"/>
                  </a:cubicBezTo>
                  <a:lnTo>
                    <a:pt x="3251454" y="0"/>
                  </a:lnTo>
                  <a:cubicBezTo>
                    <a:pt x="3419094" y="0"/>
                    <a:pt x="3554984" y="135890"/>
                    <a:pt x="3554984" y="303530"/>
                  </a:cubicBezTo>
                  <a:lnTo>
                    <a:pt x="3554984" y="398399"/>
                  </a:lnTo>
                  <a:cubicBezTo>
                    <a:pt x="3554984" y="566039"/>
                    <a:pt x="3419094" y="701929"/>
                    <a:pt x="3251454" y="701929"/>
                  </a:cubicBezTo>
                  <a:lnTo>
                    <a:pt x="303530" y="701929"/>
                  </a:lnTo>
                  <a:cubicBezTo>
                    <a:pt x="135890" y="702056"/>
                    <a:pt x="0" y="566166"/>
                    <a:pt x="0" y="398526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7953" y="2719959"/>
            <a:ext cx="2455164" cy="397764"/>
            <a:chOff x="0" y="0"/>
            <a:chExt cx="3273552" cy="5303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73552" cy="530352"/>
            </a:xfrm>
            <a:custGeom>
              <a:avLst/>
              <a:gdLst/>
              <a:ahLst/>
              <a:cxnLst/>
              <a:rect r="r" b="b" t="t" l="l"/>
              <a:pathLst>
                <a:path h="530352" w="3273552">
                  <a:moveTo>
                    <a:pt x="0" y="0"/>
                  </a:moveTo>
                  <a:lnTo>
                    <a:pt x="3273552" y="0"/>
                  </a:lnTo>
                  <a:lnTo>
                    <a:pt x="3273552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269" r="0" b="-7026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273552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DATASET UTILIZADO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42416" y="3182112"/>
            <a:ext cx="8846820" cy="960332"/>
            <a:chOff x="0" y="0"/>
            <a:chExt cx="11795760" cy="12804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95760" cy="1280443"/>
            </a:xfrm>
            <a:custGeom>
              <a:avLst/>
              <a:gdLst/>
              <a:ahLst/>
              <a:cxnLst/>
              <a:rect r="r" b="b" t="t" l="l"/>
              <a:pathLst>
                <a:path h="1280443" w="11795760">
                  <a:moveTo>
                    <a:pt x="0" y="0"/>
                  </a:moveTo>
                  <a:lnTo>
                    <a:pt x="11795760" y="0"/>
                  </a:lnTo>
                  <a:lnTo>
                    <a:pt x="11795760" y="1280443"/>
                  </a:lnTo>
                  <a:lnTo>
                    <a:pt x="0" y="12804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940" r="0" b="-12806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1795760" cy="1289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83564" y="4118991"/>
            <a:ext cx="9326880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5"/>
              </a:lnSpc>
            </a:pPr>
            <a:r>
              <a:rPr lang="en-US" sz="2429">
                <a:solidFill>
                  <a:srgbClr val="18333B"/>
                </a:solidFill>
                <a:latin typeface="Aptos"/>
                <a:ea typeface="Aptos"/>
                <a:cs typeface="Aptos"/>
                <a:sym typeface="Aptos"/>
              </a:rPr>
              <a:t>Smartphone and Smartwatch Activity and Biometrics Dataset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62228" y="5382768"/>
            <a:ext cx="4267200" cy="1030224"/>
            <a:chOff x="0" y="0"/>
            <a:chExt cx="5689600" cy="13736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89600" cy="1373632"/>
            </a:xfrm>
            <a:custGeom>
              <a:avLst/>
              <a:gdLst/>
              <a:ahLst/>
              <a:cxnLst/>
              <a:rect r="r" b="b" t="t" l="l"/>
              <a:pathLst>
                <a:path h="1373632" w="5689600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5466842" y="0"/>
                  </a:lnTo>
                  <a:cubicBezTo>
                    <a:pt x="5589905" y="0"/>
                    <a:pt x="5689600" y="99695"/>
                    <a:pt x="5689600" y="222758"/>
                  </a:cubicBezTo>
                  <a:lnTo>
                    <a:pt x="5689600" y="1150874"/>
                  </a:lnTo>
                  <a:cubicBezTo>
                    <a:pt x="5689600" y="1273937"/>
                    <a:pt x="5589905" y="1373632"/>
                    <a:pt x="5466842" y="1373632"/>
                  </a:cubicBezTo>
                  <a:lnTo>
                    <a:pt x="222758" y="1373632"/>
                  </a:lnTo>
                  <a:cubicBezTo>
                    <a:pt x="99695" y="1373632"/>
                    <a:pt x="0" y="1273937"/>
                    <a:pt x="0" y="1150874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89304" y="5541264"/>
            <a:ext cx="1508760" cy="493776"/>
            <a:chOff x="0" y="0"/>
            <a:chExt cx="2011680" cy="6583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11680" cy="658368"/>
            </a:xfrm>
            <a:custGeom>
              <a:avLst/>
              <a:gdLst/>
              <a:ahLst/>
              <a:cxnLst/>
              <a:rect r="r" b="b" t="t" l="l"/>
              <a:pathLst>
                <a:path h="658368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37" r="0" b="-953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0116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715768" y="5637276"/>
            <a:ext cx="2441448" cy="370332"/>
            <a:chOff x="0" y="0"/>
            <a:chExt cx="3255264" cy="4937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55264" cy="493776"/>
            </a:xfrm>
            <a:custGeom>
              <a:avLst/>
              <a:gdLst/>
              <a:ahLst/>
              <a:cxnLst/>
              <a:rect r="r" b="b" t="t" l="l"/>
              <a:pathLst>
                <a:path h="493776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456" r="0" b="-7845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255264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participantes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574792" y="5382768"/>
            <a:ext cx="4267200" cy="1030224"/>
            <a:chOff x="0" y="0"/>
            <a:chExt cx="5689600" cy="13736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689600" cy="1373632"/>
            </a:xfrm>
            <a:custGeom>
              <a:avLst/>
              <a:gdLst/>
              <a:ahLst/>
              <a:cxnLst/>
              <a:rect r="r" b="b" t="t" l="l"/>
              <a:pathLst>
                <a:path h="1373632" w="5689600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5466842" y="0"/>
                  </a:lnTo>
                  <a:cubicBezTo>
                    <a:pt x="5589905" y="0"/>
                    <a:pt x="5689600" y="99695"/>
                    <a:pt x="5689600" y="222758"/>
                  </a:cubicBezTo>
                  <a:lnTo>
                    <a:pt x="5689600" y="1150874"/>
                  </a:lnTo>
                  <a:cubicBezTo>
                    <a:pt x="5689600" y="1273937"/>
                    <a:pt x="5589905" y="1373632"/>
                    <a:pt x="5466842" y="1373632"/>
                  </a:cubicBezTo>
                  <a:lnTo>
                    <a:pt x="222758" y="1373632"/>
                  </a:lnTo>
                  <a:cubicBezTo>
                    <a:pt x="99695" y="1373632"/>
                    <a:pt x="0" y="1273937"/>
                    <a:pt x="0" y="1150874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801868" y="5541264"/>
            <a:ext cx="1508760" cy="493776"/>
            <a:chOff x="0" y="0"/>
            <a:chExt cx="2011680" cy="6583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11680" cy="658368"/>
            </a:xfrm>
            <a:custGeom>
              <a:avLst/>
              <a:gdLst/>
              <a:ahLst/>
              <a:cxnLst/>
              <a:rect r="r" b="b" t="t" l="l"/>
              <a:pathLst>
                <a:path h="658368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37" r="0" b="-953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0116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18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228332" y="5637276"/>
            <a:ext cx="2441448" cy="370332"/>
            <a:chOff x="0" y="0"/>
            <a:chExt cx="3255264" cy="4937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55264" cy="493776"/>
            </a:xfrm>
            <a:custGeom>
              <a:avLst/>
              <a:gdLst/>
              <a:ahLst/>
              <a:cxnLst/>
              <a:rect r="r" b="b" t="t" l="l"/>
              <a:pathLst>
                <a:path h="493776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456" r="0" b="-7845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255264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atividades no conjunto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62228" y="6576060"/>
            <a:ext cx="4267200" cy="1030224"/>
            <a:chOff x="0" y="0"/>
            <a:chExt cx="5689600" cy="13736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689600" cy="1373632"/>
            </a:xfrm>
            <a:custGeom>
              <a:avLst/>
              <a:gdLst/>
              <a:ahLst/>
              <a:cxnLst/>
              <a:rect r="r" b="b" t="t" l="l"/>
              <a:pathLst>
                <a:path h="1373632" w="5689600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5466842" y="0"/>
                  </a:lnTo>
                  <a:cubicBezTo>
                    <a:pt x="5589905" y="0"/>
                    <a:pt x="5689600" y="99695"/>
                    <a:pt x="5689600" y="222758"/>
                  </a:cubicBezTo>
                  <a:lnTo>
                    <a:pt x="5689600" y="1150874"/>
                  </a:lnTo>
                  <a:cubicBezTo>
                    <a:pt x="5689600" y="1273937"/>
                    <a:pt x="5589905" y="1373632"/>
                    <a:pt x="5466842" y="1373632"/>
                  </a:cubicBezTo>
                  <a:lnTo>
                    <a:pt x="222758" y="1373632"/>
                  </a:lnTo>
                  <a:cubicBezTo>
                    <a:pt x="99695" y="1373632"/>
                    <a:pt x="0" y="1273937"/>
                    <a:pt x="0" y="1150874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89304" y="6734556"/>
            <a:ext cx="1508760" cy="493776"/>
            <a:chOff x="0" y="0"/>
            <a:chExt cx="2011680" cy="6583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11680" cy="658368"/>
            </a:xfrm>
            <a:custGeom>
              <a:avLst/>
              <a:gdLst/>
              <a:ahLst/>
              <a:cxnLst/>
              <a:rect r="r" b="b" t="t" l="l"/>
              <a:pathLst>
                <a:path h="658368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37" r="0" b="-953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0116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 Hz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715768" y="6830568"/>
            <a:ext cx="2441448" cy="370332"/>
            <a:chOff x="0" y="0"/>
            <a:chExt cx="3255264" cy="4937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55264" cy="493776"/>
            </a:xfrm>
            <a:custGeom>
              <a:avLst/>
              <a:gdLst/>
              <a:ahLst/>
              <a:cxnLst/>
              <a:rect r="r" b="b" t="t" l="l"/>
              <a:pathLst>
                <a:path h="493776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456" r="0" b="-7845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255264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frequência de coleta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574792" y="6576060"/>
            <a:ext cx="4267200" cy="1030224"/>
            <a:chOff x="0" y="0"/>
            <a:chExt cx="5689600" cy="137363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89600" cy="1373632"/>
            </a:xfrm>
            <a:custGeom>
              <a:avLst/>
              <a:gdLst/>
              <a:ahLst/>
              <a:cxnLst/>
              <a:rect r="r" b="b" t="t" l="l"/>
              <a:pathLst>
                <a:path h="1373632" w="5689600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5466842" y="0"/>
                  </a:lnTo>
                  <a:cubicBezTo>
                    <a:pt x="5589905" y="0"/>
                    <a:pt x="5689600" y="99695"/>
                    <a:pt x="5689600" y="222758"/>
                  </a:cubicBezTo>
                  <a:lnTo>
                    <a:pt x="5689600" y="1150874"/>
                  </a:lnTo>
                  <a:cubicBezTo>
                    <a:pt x="5689600" y="1273937"/>
                    <a:pt x="5589905" y="1373632"/>
                    <a:pt x="5466842" y="1373632"/>
                  </a:cubicBezTo>
                  <a:lnTo>
                    <a:pt x="222758" y="1373632"/>
                  </a:lnTo>
                  <a:cubicBezTo>
                    <a:pt x="99695" y="1373632"/>
                    <a:pt x="0" y="1273937"/>
                    <a:pt x="0" y="1150874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5801868" y="6734556"/>
            <a:ext cx="1508760" cy="493776"/>
            <a:chOff x="0" y="0"/>
            <a:chExt cx="2011680" cy="6583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11680" cy="658368"/>
            </a:xfrm>
            <a:custGeom>
              <a:avLst/>
              <a:gdLst/>
              <a:ahLst/>
              <a:cxnLst/>
              <a:rect r="r" b="b" t="t" l="l"/>
              <a:pathLst>
                <a:path h="658368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37" r="0" b="-953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20116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228332" y="6830568"/>
            <a:ext cx="2441448" cy="370332"/>
            <a:chOff x="0" y="0"/>
            <a:chExt cx="3255264" cy="49377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55264" cy="493776"/>
            </a:xfrm>
            <a:custGeom>
              <a:avLst/>
              <a:gdLst/>
              <a:ahLst/>
              <a:cxnLst/>
              <a:rect r="r" b="b" t="t" l="l"/>
              <a:pathLst>
                <a:path h="493776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456" r="0" b="-7845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255264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sinais disponíveis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97280" y="8106156"/>
            <a:ext cx="4663440" cy="342900"/>
            <a:chOff x="0" y="0"/>
            <a:chExt cx="6217920" cy="457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17920" cy="457200"/>
            </a:xfrm>
            <a:custGeom>
              <a:avLst/>
              <a:gdLst/>
              <a:ahLst/>
              <a:cxnLst/>
              <a:rect r="r" b="b" t="t" l="l"/>
              <a:pathLst>
                <a:path h="4572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996" r="0" b="-21499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62179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 classes selecionadas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87755" y="8521827"/>
            <a:ext cx="1829562" cy="526542"/>
            <a:chOff x="0" y="0"/>
            <a:chExt cx="2439416" cy="7020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39416" cy="701929"/>
            </a:xfrm>
            <a:custGeom>
              <a:avLst/>
              <a:gdLst/>
              <a:ahLst/>
              <a:cxnLst/>
              <a:rect r="r" b="b" t="t" l="l"/>
              <a:pathLst>
                <a:path h="701929" w="2439416">
                  <a:moveTo>
                    <a:pt x="0" y="303530"/>
                  </a:moveTo>
                  <a:cubicBezTo>
                    <a:pt x="0" y="135890"/>
                    <a:pt x="135890" y="0"/>
                    <a:pt x="303530" y="0"/>
                  </a:cubicBezTo>
                  <a:lnTo>
                    <a:pt x="2135886" y="0"/>
                  </a:lnTo>
                  <a:cubicBezTo>
                    <a:pt x="2303526" y="0"/>
                    <a:pt x="2439416" y="135890"/>
                    <a:pt x="2439416" y="303530"/>
                  </a:cubicBezTo>
                  <a:lnTo>
                    <a:pt x="2439416" y="398399"/>
                  </a:lnTo>
                  <a:cubicBezTo>
                    <a:pt x="2439416" y="566039"/>
                    <a:pt x="2303526" y="701929"/>
                    <a:pt x="2135886" y="701929"/>
                  </a:cubicBezTo>
                  <a:lnTo>
                    <a:pt x="303530" y="701929"/>
                  </a:lnTo>
                  <a:cubicBezTo>
                    <a:pt x="135890" y="702056"/>
                    <a:pt x="0" y="566166"/>
                    <a:pt x="0" y="398526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93292" y="8579358"/>
            <a:ext cx="1618488" cy="397764"/>
            <a:chOff x="0" y="0"/>
            <a:chExt cx="2157984" cy="5303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57984" cy="530352"/>
            </a:xfrm>
            <a:custGeom>
              <a:avLst/>
              <a:gdLst/>
              <a:ahLst/>
              <a:cxnLst/>
              <a:rect r="r" b="b" t="t" l="l"/>
              <a:pathLst>
                <a:path h="530352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283" r="0" b="-2928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2157984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· Caminhar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021711" y="8521827"/>
            <a:ext cx="1637538" cy="526542"/>
            <a:chOff x="0" y="0"/>
            <a:chExt cx="2183384" cy="7020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83384" cy="701929"/>
            </a:xfrm>
            <a:custGeom>
              <a:avLst/>
              <a:gdLst/>
              <a:ahLst/>
              <a:cxnLst/>
              <a:rect r="r" b="b" t="t" l="l"/>
              <a:pathLst>
                <a:path h="701929" w="2183384">
                  <a:moveTo>
                    <a:pt x="0" y="303530"/>
                  </a:moveTo>
                  <a:cubicBezTo>
                    <a:pt x="0" y="135890"/>
                    <a:pt x="135890" y="0"/>
                    <a:pt x="303530" y="0"/>
                  </a:cubicBezTo>
                  <a:lnTo>
                    <a:pt x="1879854" y="0"/>
                  </a:lnTo>
                  <a:cubicBezTo>
                    <a:pt x="2047494" y="0"/>
                    <a:pt x="2183384" y="135890"/>
                    <a:pt x="2183384" y="303530"/>
                  </a:cubicBezTo>
                  <a:lnTo>
                    <a:pt x="2183384" y="398399"/>
                  </a:lnTo>
                  <a:cubicBezTo>
                    <a:pt x="2183384" y="566039"/>
                    <a:pt x="2047494" y="701929"/>
                    <a:pt x="1879854" y="701929"/>
                  </a:cubicBezTo>
                  <a:lnTo>
                    <a:pt x="303530" y="701929"/>
                  </a:lnTo>
                  <a:cubicBezTo>
                    <a:pt x="135890" y="702056"/>
                    <a:pt x="0" y="566166"/>
                    <a:pt x="0" y="398526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3127248" y="8579358"/>
            <a:ext cx="1426464" cy="397764"/>
            <a:chOff x="0" y="0"/>
            <a:chExt cx="1901952" cy="53035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01952" cy="530352"/>
            </a:xfrm>
            <a:custGeom>
              <a:avLst/>
              <a:gdLst/>
              <a:ahLst/>
              <a:cxnLst/>
              <a:rect r="r" b="b" t="t" l="l"/>
              <a:pathLst>
                <a:path h="530352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77" r="0" b="-1987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1901952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 · Correr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4763643" y="8521827"/>
            <a:ext cx="1623822" cy="526542"/>
            <a:chOff x="0" y="0"/>
            <a:chExt cx="2165096" cy="7020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65096" cy="701929"/>
            </a:xfrm>
            <a:custGeom>
              <a:avLst/>
              <a:gdLst/>
              <a:ahLst/>
              <a:cxnLst/>
              <a:rect r="r" b="b" t="t" l="l"/>
              <a:pathLst>
                <a:path h="701929" w="2165096">
                  <a:moveTo>
                    <a:pt x="0" y="303530"/>
                  </a:moveTo>
                  <a:cubicBezTo>
                    <a:pt x="0" y="135890"/>
                    <a:pt x="135890" y="0"/>
                    <a:pt x="303530" y="0"/>
                  </a:cubicBezTo>
                  <a:lnTo>
                    <a:pt x="1861566" y="0"/>
                  </a:lnTo>
                  <a:cubicBezTo>
                    <a:pt x="2029206" y="0"/>
                    <a:pt x="2165096" y="135890"/>
                    <a:pt x="2165096" y="303530"/>
                  </a:cubicBezTo>
                  <a:lnTo>
                    <a:pt x="2165096" y="398399"/>
                  </a:lnTo>
                  <a:cubicBezTo>
                    <a:pt x="2165096" y="566039"/>
                    <a:pt x="2029206" y="701929"/>
                    <a:pt x="1861566" y="701929"/>
                  </a:cubicBezTo>
                  <a:lnTo>
                    <a:pt x="303530" y="701929"/>
                  </a:lnTo>
                  <a:cubicBezTo>
                    <a:pt x="135890" y="702056"/>
                    <a:pt x="0" y="566166"/>
                    <a:pt x="0" y="398526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869180" y="8579358"/>
            <a:ext cx="1412748" cy="397764"/>
            <a:chOff x="0" y="0"/>
            <a:chExt cx="1883664" cy="5303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83664" cy="530352"/>
            </a:xfrm>
            <a:custGeom>
              <a:avLst/>
              <a:gdLst/>
              <a:ahLst/>
              <a:cxnLst/>
              <a:rect r="r" b="b" t="t" l="l"/>
              <a:pathLst>
                <a:path h="530352" w="1883664">
                  <a:moveTo>
                    <a:pt x="0" y="0"/>
                  </a:moveTo>
                  <a:lnTo>
                    <a:pt x="1883664" y="0"/>
                  </a:lnTo>
                  <a:lnTo>
                    <a:pt x="1883664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205" r="0" b="-1920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1883664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 · Escadas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491859" y="8521827"/>
            <a:ext cx="2446782" cy="526542"/>
            <a:chOff x="0" y="0"/>
            <a:chExt cx="3262376" cy="7020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262376" cy="701929"/>
            </a:xfrm>
            <a:custGeom>
              <a:avLst/>
              <a:gdLst/>
              <a:ahLst/>
              <a:cxnLst/>
              <a:rect r="r" b="b" t="t" l="l"/>
              <a:pathLst>
                <a:path h="701929" w="3262376">
                  <a:moveTo>
                    <a:pt x="0" y="303530"/>
                  </a:moveTo>
                  <a:cubicBezTo>
                    <a:pt x="0" y="135890"/>
                    <a:pt x="135890" y="0"/>
                    <a:pt x="303530" y="0"/>
                  </a:cubicBezTo>
                  <a:lnTo>
                    <a:pt x="2958846" y="0"/>
                  </a:lnTo>
                  <a:cubicBezTo>
                    <a:pt x="3126486" y="0"/>
                    <a:pt x="3262376" y="135890"/>
                    <a:pt x="3262376" y="303530"/>
                  </a:cubicBezTo>
                  <a:lnTo>
                    <a:pt x="3262376" y="398399"/>
                  </a:lnTo>
                  <a:cubicBezTo>
                    <a:pt x="3262376" y="566039"/>
                    <a:pt x="3126486" y="701929"/>
                    <a:pt x="2958846" y="701929"/>
                  </a:cubicBezTo>
                  <a:lnTo>
                    <a:pt x="303530" y="701929"/>
                  </a:lnTo>
                  <a:cubicBezTo>
                    <a:pt x="135890" y="702056"/>
                    <a:pt x="0" y="566166"/>
                    <a:pt x="0" y="398526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597396" y="8579358"/>
            <a:ext cx="2235708" cy="397764"/>
            <a:chOff x="0" y="0"/>
            <a:chExt cx="2980944" cy="5303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980944" cy="530352"/>
            </a:xfrm>
            <a:custGeom>
              <a:avLst/>
              <a:gdLst/>
              <a:ahLst/>
              <a:cxnLst/>
              <a:rect r="r" b="b" t="t" l="l"/>
              <a:pathLst>
                <a:path h="530352" w="2980944">
                  <a:moveTo>
                    <a:pt x="0" y="0"/>
                  </a:moveTo>
                  <a:lnTo>
                    <a:pt x="2980944" y="0"/>
                  </a:lnTo>
                  <a:lnTo>
                    <a:pt x="2980944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519" r="0" b="-5951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2980944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 · Escovar dentes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043035" y="8521827"/>
            <a:ext cx="2131314" cy="526542"/>
            <a:chOff x="0" y="0"/>
            <a:chExt cx="2841752" cy="70205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841752" cy="701929"/>
            </a:xfrm>
            <a:custGeom>
              <a:avLst/>
              <a:gdLst/>
              <a:ahLst/>
              <a:cxnLst/>
              <a:rect r="r" b="b" t="t" l="l"/>
              <a:pathLst>
                <a:path h="701929" w="2841752">
                  <a:moveTo>
                    <a:pt x="0" y="303530"/>
                  </a:moveTo>
                  <a:cubicBezTo>
                    <a:pt x="0" y="135890"/>
                    <a:pt x="135890" y="0"/>
                    <a:pt x="303530" y="0"/>
                  </a:cubicBezTo>
                  <a:lnTo>
                    <a:pt x="2538222" y="0"/>
                  </a:lnTo>
                  <a:cubicBezTo>
                    <a:pt x="2705862" y="0"/>
                    <a:pt x="2841752" y="135890"/>
                    <a:pt x="2841752" y="303530"/>
                  </a:cubicBezTo>
                  <a:lnTo>
                    <a:pt x="2841752" y="398399"/>
                  </a:lnTo>
                  <a:cubicBezTo>
                    <a:pt x="2841752" y="566039"/>
                    <a:pt x="2705862" y="701929"/>
                    <a:pt x="2538222" y="701929"/>
                  </a:cubicBezTo>
                  <a:lnTo>
                    <a:pt x="303530" y="701929"/>
                  </a:lnTo>
                  <a:cubicBezTo>
                    <a:pt x="135890" y="702056"/>
                    <a:pt x="0" y="566166"/>
                    <a:pt x="0" y="398526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148572" y="8579358"/>
            <a:ext cx="1920240" cy="397764"/>
            <a:chOff x="0" y="0"/>
            <a:chExt cx="2560320" cy="5303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65" r="0" b="-4406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2560320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 · Bater palmas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223879" y="1567815"/>
            <a:ext cx="6040374" cy="7686294"/>
            <a:chOff x="0" y="0"/>
            <a:chExt cx="8053832" cy="102483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053832" cy="10248392"/>
            </a:xfrm>
            <a:custGeom>
              <a:avLst/>
              <a:gdLst/>
              <a:ahLst/>
              <a:cxnLst/>
              <a:rect r="r" b="b" t="t" l="l"/>
              <a:pathLst>
                <a:path h="10248392" w="8053832">
                  <a:moveTo>
                    <a:pt x="0" y="403606"/>
                  </a:moveTo>
                  <a:cubicBezTo>
                    <a:pt x="0" y="180721"/>
                    <a:pt x="180721" y="0"/>
                    <a:pt x="403606" y="0"/>
                  </a:cubicBezTo>
                  <a:lnTo>
                    <a:pt x="7650226" y="0"/>
                  </a:lnTo>
                  <a:cubicBezTo>
                    <a:pt x="7873111" y="0"/>
                    <a:pt x="8053832" y="180721"/>
                    <a:pt x="8053832" y="403606"/>
                  </a:cubicBezTo>
                  <a:lnTo>
                    <a:pt x="8053832" y="9844787"/>
                  </a:lnTo>
                  <a:cubicBezTo>
                    <a:pt x="8053832" y="10067672"/>
                    <a:pt x="7873111" y="10248392"/>
                    <a:pt x="7650226" y="10248392"/>
                  </a:cubicBezTo>
                  <a:lnTo>
                    <a:pt x="403606" y="10248392"/>
                  </a:lnTo>
                  <a:cubicBezTo>
                    <a:pt x="180721" y="10248392"/>
                    <a:pt x="0" y="10067671"/>
                    <a:pt x="0" y="9844786"/>
                  </a:cubicBezTo>
                  <a:close/>
                </a:path>
              </a:pathLst>
            </a:custGeom>
            <a:solidFill>
              <a:srgbClr val="E8F3E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033123" y="2034159"/>
            <a:ext cx="4517898" cy="4517898"/>
            <a:chOff x="0" y="0"/>
            <a:chExt cx="6023864" cy="60238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023864" cy="6023864"/>
            </a:xfrm>
            <a:custGeom>
              <a:avLst/>
              <a:gdLst/>
              <a:ahLst/>
              <a:cxnLst/>
              <a:rect r="r" b="b" t="t" l="l"/>
              <a:pathLst>
                <a:path h="6023864" w="6023864">
                  <a:moveTo>
                    <a:pt x="0" y="3011932"/>
                  </a:moveTo>
                  <a:cubicBezTo>
                    <a:pt x="0" y="1348486"/>
                    <a:pt x="1348486" y="0"/>
                    <a:pt x="3011932" y="0"/>
                  </a:cubicBezTo>
                  <a:cubicBezTo>
                    <a:pt x="4675378" y="0"/>
                    <a:pt x="6023864" y="1348486"/>
                    <a:pt x="6023864" y="3011932"/>
                  </a:cubicBezTo>
                  <a:cubicBezTo>
                    <a:pt x="6023864" y="4675378"/>
                    <a:pt x="4675378" y="6023864"/>
                    <a:pt x="3011932" y="6023864"/>
                  </a:cubicBezTo>
                  <a:cubicBezTo>
                    <a:pt x="1348486" y="6023864"/>
                    <a:pt x="0" y="4675378"/>
                    <a:pt x="0" y="3011932"/>
                  </a:cubicBezTo>
                  <a:close/>
                </a:path>
              </a:pathLst>
            </a:custGeom>
            <a:solidFill>
              <a:srgbClr val="D4EAE4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102971" y="1732407"/>
            <a:ext cx="2378202" cy="1500378"/>
            <a:chOff x="0" y="0"/>
            <a:chExt cx="3170936" cy="200050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170936" cy="2000504"/>
            </a:xfrm>
            <a:custGeom>
              <a:avLst/>
              <a:gdLst/>
              <a:ahLst/>
              <a:cxnLst/>
              <a:rect r="r" b="b" t="t" l="l"/>
              <a:pathLst>
                <a:path h="2000504" w="3170936">
                  <a:moveTo>
                    <a:pt x="0" y="351917"/>
                  </a:moveTo>
                  <a:cubicBezTo>
                    <a:pt x="0" y="157607"/>
                    <a:pt x="157607" y="0"/>
                    <a:pt x="351917" y="0"/>
                  </a:cubicBezTo>
                  <a:lnTo>
                    <a:pt x="2819019" y="0"/>
                  </a:lnTo>
                  <a:cubicBezTo>
                    <a:pt x="3013456" y="0"/>
                    <a:pt x="3170936" y="157607"/>
                    <a:pt x="3170936" y="351917"/>
                  </a:cubicBezTo>
                  <a:lnTo>
                    <a:pt x="3170936" y="1648587"/>
                  </a:lnTo>
                  <a:cubicBezTo>
                    <a:pt x="3170936" y="1843024"/>
                    <a:pt x="3013329" y="2000504"/>
                    <a:pt x="2819019" y="2000504"/>
                  </a:cubicBezTo>
                  <a:lnTo>
                    <a:pt x="351917" y="2000504"/>
                  </a:lnTo>
                  <a:cubicBezTo>
                    <a:pt x="157607" y="2000504"/>
                    <a:pt x="0" y="1842897"/>
                    <a:pt x="0" y="1648587"/>
                  </a:cubicBezTo>
                  <a:close/>
                </a:path>
              </a:pathLst>
            </a:custGeom>
            <a:solidFill>
              <a:srgbClr val="102C35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102971" y="7657719"/>
            <a:ext cx="2378202" cy="1198626"/>
            <a:chOff x="0" y="0"/>
            <a:chExt cx="3170936" cy="159816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170936" cy="1598168"/>
            </a:xfrm>
            <a:custGeom>
              <a:avLst/>
              <a:gdLst/>
              <a:ahLst/>
              <a:cxnLst/>
              <a:rect r="r" b="b" t="t" l="l"/>
              <a:pathLst>
                <a:path h="1598168" w="3170936">
                  <a:moveTo>
                    <a:pt x="0" y="334518"/>
                  </a:moveTo>
                  <a:cubicBezTo>
                    <a:pt x="0" y="149733"/>
                    <a:pt x="149733" y="0"/>
                    <a:pt x="334518" y="0"/>
                  </a:cubicBezTo>
                  <a:lnTo>
                    <a:pt x="2836418" y="0"/>
                  </a:lnTo>
                  <a:cubicBezTo>
                    <a:pt x="3021203" y="0"/>
                    <a:pt x="3170936" y="149733"/>
                    <a:pt x="3170936" y="334518"/>
                  </a:cubicBezTo>
                  <a:lnTo>
                    <a:pt x="3170936" y="1263650"/>
                  </a:lnTo>
                  <a:cubicBezTo>
                    <a:pt x="3170936" y="1448435"/>
                    <a:pt x="3021203" y="1598168"/>
                    <a:pt x="2836418" y="1598168"/>
                  </a:cubicBezTo>
                  <a:lnTo>
                    <a:pt x="334518" y="1598168"/>
                  </a:lnTo>
                  <a:cubicBezTo>
                    <a:pt x="149733" y="1598168"/>
                    <a:pt x="0" y="1448435"/>
                    <a:pt x="0" y="1263650"/>
                  </a:cubicBezTo>
                  <a:close/>
                </a:path>
              </a:pathLst>
            </a:custGeom>
            <a:solidFill>
              <a:srgbClr val="102C35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485751" y="2678811"/>
            <a:ext cx="3640074" cy="5354574"/>
            <a:chOff x="0" y="0"/>
            <a:chExt cx="4853432" cy="713943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853432" cy="7139432"/>
            </a:xfrm>
            <a:custGeom>
              <a:avLst/>
              <a:gdLst/>
              <a:ahLst/>
              <a:cxnLst/>
              <a:rect r="r" b="b" t="t" l="l"/>
              <a:pathLst>
                <a:path h="7139432" w="4853432">
                  <a:moveTo>
                    <a:pt x="0" y="606679"/>
                  </a:moveTo>
                  <a:cubicBezTo>
                    <a:pt x="0" y="271653"/>
                    <a:pt x="271653" y="0"/>
                    <a:pt x="606679" y="0"/>
                  </a:cubicBezTo>
                  <a:lnTo>
                    <a:pt x="4246753" y="0"/>
                  </a:lnTo>
                  <a:cubicBezTo>
                    <a:pt x="4581779" y="0"/>
                    <a:pt x="4853432" y="271653"/>
                    <a:pt x="4853432" y="606679"/>
                  </a:cubicBezTo>
                  <a:lnTo>
                    <a:pt x="4853432" y="6532753"/>
                  </a:lnTo>
                  <a:cubicBezTo>
                    <a:pt x="4853432" y="6867779"/>
                    <a:pt x="4581779" y="7139432"/>
                    <a:pt x="4246753" y="7139432"/>
                  </a:cubicBezTo>
                  <a:lnTo>
                    <a:pt x="606679" y="7139432"/>
                  </a:lnTo>
                  <a:cubicBezTo>
                    <a:pt x="271653" y="7139432"/>
                    <a:pt x="0" y="6867779"/>
                    <a:pt x="0" y="6532753"/>
                  </a:cubicBezTo>
                  <a:close/>
                </a:path>
              </a:pathLst>
            </a:custGeom>
            <a:solidFill>
              <a:srgbClr val="233C44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705207" y="2939415"/>
            <a:ext cx="3201162" cy="4805934"/>
            <a:chOff x="0" y="0"/>
            <a:chExt cx="4268216" cy="640791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268216" cy="6407912"/>
            </a:xfrm>
            <a:custGeom>
              <a:avLst/>
              <a:gdLst/>
              <a:ahLst/>
              <a:cxnLst/>
              <a:rect r="r" b="b" t="t" l="l"/>
              <a:pathLst>
                <a:path h="6407912" w="4268216">
                  <a:moveTo>
                    <a:pt x="0" y="441579"/>
                  </a:moveTo>
                  <a:cubicBezTo>
                    <a:pt x="0" y="197739"/>
                    <a:pt x="197739" y="0"/>
                    <a:pt x="441579" y="0"/>
                  </a:cubicBezTo>
                  <a:lnTo>
                    <a:pt x="3826637" y="0"/>
                  </a:lnTo>
                  <a:cubicBezTo>
                    <a:pt x="4070477" y="0"/>
                    <a:pt x="4268216" y="197739"/>
                    <a:pt x="4268216" y="441579"/>
                  </a:cubicBezTo>
                  <a:lnTo>
                    <a:pt x="4268216" y="5966333"/>
                  </a:lnTo>
                  <a:cubicBezTo>
                    <a:pt x="4268216" y="6210173"/>
                    <a:pt x="4070477" y="6407912"/>
                    <a:pt x="3826637" y="6407912"/>
                  </a:cubicBezTo>
                  <a:lnTo>
                    <a:pt x="441579" y="6407912"/>
                  </a:lnTo>
                  <a:cubicBezTo>
                    <a:pt x="197739" y="6407912"/>
                    <a:pt x="0" y="6210173"/>
                    <a:pt x="0" y="5966333"/>
                  </a:cubicBezTo>
                  <a:close/>
                </a:path>
              </a:pathLst>
            </a:custGeom>
            <a:solidFill>
              <a:srgbClr val="0B2029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043916" y="3401568"/>
            <a:ext cx="2578608" cy="397764"/>
            <a:chOff x="0" y="0"/>
            <a:chExt cx="3438144" cy="53035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438144" cy="530352"/>
            </a:xfrm>
            <a:custGeom>
              <a:avLst/>
              <a:gdLst/>
              <a:ahLst/>
              <a:cxnLst/>
              <a:rect r="r" b="b" t="t" l="l"/>
              <a:pathLst>
                <a:path h="530352" w="3438144">
                  <a:moveTo>
                    <a:pt x="0" y="0"/>
                  </a:moveTo>
                  <a:lnTo>
                    <a:pt x="3438144" y="0"/>
                  </a:lnTo>
                  <a:lnTo>
                    <a:pt x="3438144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316" r="0" b="-76316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3438144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B9E5D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MOVIMENTO / 20 Hz</a:t>
              </a:r>
            </a:p>
          </p:txBody>
        </p:sp>
      </p:grpSp>
      <p:sp>
        <p:nvSpPr>
          <p:cNvPr name="AutoShape 102" id="102"/>
          <p:cNvSpPr/>
          <p:nvPr/>
        </p:nvSpPr>
        <p:spPr>
          <a:xfrm rot="3981480">
            <a:off x="12918624" y="5272526"/>
            <a:ext cx="275882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 rot="3564840">
            <a:off x="13028000" y="5461997"/>
            <a:ext cx="217427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 rot="2056680">
            <a:off x="13149920" y="5562810"/>
            <a:ext cx="133883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 rot="3144900">
            <a:off x="13687244" y="4804781"/>
            <a:ext cx="181385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6" id="106"/>
          <p:cNvSpPr/>
          <p:nvPr/>
        </p:nvSpPr>
        <p:spPr>
          <a:xfrm rot="3871560">
            <a:off x="13729478" y="4962287"/>
            <a:ext cx="257223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7" id="107"/>
          <p:cNvSpPr/>
          <p:nvPr/>
        </p:nvSpPr>
        <p:spPr>
          <a:xfrm rot="4022700">
            <a:off x="13796410" y="5178514"/>
            <a:ext cx="283664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8" id="108"/>
          <p:cNvSpPr/>
          <p:nvPr/>
        </p:nvSpPr>
        <p:spPr>
          <a:xfrm rot="3811440">
            <a:off x="13894318" y="5389702"/>
            <a:ext cx="248155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9" id="109"/>
          <p:cNvSpPr/>
          <p:nvPr/>
        </p:nvSpPr>
        <p:spPr>
          <a:xfrm rot="2930100">
            <a:off x="14014513" y="5533549"/>
            <a:ext cx="168078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0" id="110"/>
          <p:cNvSpPr/>
          <p:nvPr/>
        </p:nvSpPr>
        <p:spPr>
          <a:xfrm rot="2424240">
            <a:off x="14586976" y="4768063"/>
            <a:ext cx="145285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1" id="111"/>
          <p:cNvSpPr/>
          <p:nvPr/>
        </p:nvSpPr>
        <p:spPr>
          <a:xfrm rot="3668760">
            <a:off x="14625142" y="4885058"/>
            <a:ext cx="229257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2" id="112"/>
          <p:cNvSpPr/>
          <p:nvPr/>
        </p:nvSpPr>
        <p:spPr>
          <a:xfrm rot="4003440">
            <a:off x="14679940" y="5083569"/>
            <a:ext cx="279968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3" id="113"/>
          <p:cNvSpPr/>
          <p:nvPr/>
        </p:nvSpPr>
        <p:spPr>
          <a:xfrm rot="3950819">
            <a:off x="14764883" y="5305034"/>
            <a:ext cx="270377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4" id="114"/>
          <p:cNvSpPr/>
          <p:nvPr/>
        </p:nvSpPr>
        <p:spPr>
          <a:xfrm rot="3439140">
            <a:off x="14877783" y="5484143"/>
            <a:ext cx="204892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5" id="115"/>
          <p:cNvSpPr/>
          <p:nvPr/>
        </p:nvSpPr>
        <p:spPr>
          <a:xfrm rot="1618980">
            <a:off x="14998313" y="5568058"/>
            <a:ext cx="124149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6" id="116"/>
          <p:cNvSpPr/>
          <p:nvPr/>
        </p:nvSpPr>
        <p:spPr>
          <a:xfrm rot="1224300">
            <a:off x="15482278" y="4752623"/>
            <a:ext cx="118043" cy="0"/>
          </a:xfrm>
          <a:prstGeom prst="line">
            <a:avLst/>
          </a:prstGeom>
          <a:ln cap="rnd" w="19050">
            <a:solidFill>
              <a:srgbClr val="C7E9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7" id="117"/>
          <p:cNvSpPr/>
          <p:nvPr/>
        </p:nvSpPr>
        <p:spPr>
          <a:xfrm rot="2056680">
            <a:off x="12989614" y="5933142"/>
            <a:ext cx="133883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8" id="118"/>
          <p:cNvSpPr/>
          <p:nvPr/>
        </p:nvSpPr>
        <p:spPr>
          <a:xfrm rot="3144900">
            <a:off x="13526938" y="5175113"/>
            <a:ext cx="181385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9" id="119"/>
          <p:cNvSpPr/>
          <p:nvPr/>
        </p:nvSpPr>
        <p:spPr>
          <a:xfrm rot="3871560">
            <a:off x="13569172" y="5332619"/>
            <a:ext cx="257223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0" id="120"/>
          <p:cNvSpPr/>
          <p:nvPr/>
        </p:nvSpPr>
        <p:spPr>
          <a:xfrm rot="4022700">
            <a:off x="13636104" y="5548846"/>
            <a:ext cx="283664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1" id="121"/>
          <p:cNvSpPr/>
          <p:nvPr/>
        </p:nvSpPr>
        <p:spPr>
          <a:xfrm rot="3811440">
            <a:off x="13734012" y="5760034"/>
            <a:ext cx="248155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2" id="122"/>
          <p:cNvSpPr/>
          <p:nvPr/>
        </p:nvSpPr>
        <p:spPr>
          <a:xfrm rot="2930100">
            <a:off x="13854208" y="5903881"/>
            <a:ext cx="168078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3" id="123"/>
          <p:cNvSpPr/>
          <p:nvPr/>
        </p:nvSpPr>
        <p:spPr>
          <a:xfrm rot="2424240">
            <a:off x="14426670" y="5138395"/>
            <a:ext cx="145285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4" id="124"/>
          <p:cNvSpPr/>
          <p:nvPr/>
        </p:nvSpPr>
        <p:spPr>
          <a:xfrm rot="3668760">
            <a:off x="14464836" y="5255390"/>
            <a:ext cx="229257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5" id="125"/>
          <p:cNvSpPr/>
          <p:nvPr/>
        </p:nvSpPr>
        <p:spPr>
          <a:xfrm rot="4003440">
            <a:off x="14519634" y="5453901"/>
            <a:ext cx="279968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6" id="126"/>
          <p:cNvSpPr/>
          <p:nvPr/>
        </p:nvSpPr>
        <p:spPr>
          <a:xfrm rot="3950819">
            <a:off x="14604578" y="5675366"/>
            <a:ext cx="270377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7" id="127"/>
          <p:cNvSpPr/>
          <p:nvPr/>
        </p:nvSpPr>
        <p:spPr>
          <a:xfrm rot="3439140">
            <a:off x="14717478" y="5854475"/>
            <a:ext cx="204892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8" id="128"/>
          <p:cNvSpPr/>
          <p:nvPr/>
        </p:nvSpPr>
        <p:spPr>
          <a:xfrm rot="1618980">
            <a:off x="14838007" y="5938390"/>
            <a:ext cx="124149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9" id="129"/>
          <p:cNvSpPr/>
          <p:nvPr/>
        </p:nvSpPr>
        <p:spPr>
          <a:xfrm rot="1224300">
            <a:off x="15321972" y="5122955"/>
            <a:ext cx="118043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0" id="130"/>
          <p:cNvSpPr/>
          <p:nvPr/>
        </p:nvSpPr>
        <p:spPr>
          <a:xfrm rot="3321780">
            <a:off x="15363825" y="5193125"/>
            <a:ext cx="194643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1" id="131"/>
          <p:cNvSpPr/>
          <p:nvPr/>
        </p:nvSpPr>
        <p:spPr>
          <a:xfrm rot="3919980">
            <a:off x="15408754" y="5363175"/>
            <a:ext cx="265090" cy="0"/>
          </a:xfrm>
          <a:prstGeom prst="line">
            <a:avLst/>
          </a:prstGeom>
          <a:ln cap="rnd" w="19050">
            <a:solidFill>
              <a:srgbClr val="8CBFB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2" id="132"/>
          <p:cNvSpPr/>
          <p:nvPr/>
        </p:nvSpPr>
        <p:spPr>
          <a:xfrm rot="3144900">
            <a:off x="13366633" y="4448165"/>
            <a:ext cx="181385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3" id="133"/>
          <p:cNvSpPr/>
          <p:nvPr/>
        </p:nvSpPr>
        <p:spPr>
          <a:xfrm rot="3871560">
            <a:off x="13408866" y="4605671"/>
            <a:ext cx="257223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4" id="134"/>
          <p:cNvSpPr/>
          <p:nvPr/>
        </p:nvSpPr>
        <p:spPr>
          <a:xfrm rot="4022700">
            <a:off x="13475799" y="4821898"/>
            <a:ext cx="283664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5" id="135"/>
          <p:cNvSpPr/>
          <p:nvPr/>
        </p:nvSpPr>
        <p:spPr>
          <a:xfrm rot="3811440">
            <a:off x="13573706" y="5033086"/>
            <a:ext cx="248155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6" id="136"/>
          <p:cNvSpPr/>
          <p:nvPr/>
        </p:nvSpPr>
        <p:spPr>
          <a:xfrm rot="2930100">
            <a:off x="13693902" y="5176933"/>
            <a:ext cx="168078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7" id="137"/>
          <p:cNvSpPr/>
          <p:nvPr/>
        </p:nvSpPr>
        <p:spPr>
          <a:xfrm rot="2424240">
            <a:off x="14266364" y="4411447"/>
            <a:ext cx="145285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8" id="138"/>
          <p:cNvSpPr/>
          <p:nvPr/>
        </p:nvSpPr>
        <p:spPr>
          <a:xfrm rot="3668760">
            <a:off x="14304531" y="4528442"/>
            <a:ext cx="229257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9" id="139"/>
          <p:cNvSpPr/>
          <p:nvPr/>
        </p:nvSpPr>
        <p:spPr>
          <a:xfrm rot="4003440">
            <a:off x="14359328" y="4726953"/>
            <a:ext cx="279968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0" id="140"/>
          <p:cNvSpPr/>
          <p:nvPr/>
        </p:nvSpPr>
        <p:spPr>
          <a:xfrm rot="3950819">
            <a:off x="14444272" y="4948418"/>
            <a:ext cx="270377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1" id="141"/>
          <p:cNvSpPr/>
          <p:nvPr/>
        </p:nvSpPr>
        <p:spPr>
          <a:xfrm rot="3439140">
            <a:off x="14557172" y="5127527"/>
            <a:ext cx="204892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2" id="142"/>
          <p:cNvSpPr/>
          <p:nvPr/>
        </p:nvSpPr>
        <p:spPr>
          <a:xfrm rot="1618980">
            <a:off x="14677701" y="5211442"/>
            <a:ext cx="124149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3" id="143"/>
          <p:cNvSpPr/>
          <p:nvPr/>
        </p:nvSpPr>
        <p:spPr>
          <a:xfrm rot="1224300">
            <a:off x="15161666" y="4396007"/>
            <a:ext cx="118043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4" id="144"/>
          <p:cNvSpPr/>
          <p:nvPr/>
        </p:nvSpPr>
        <p:spPr>
          <a:xfrm rot="3321780">
            <a:off x="15203519" y="4466177"/>
            <a:ext cx="194643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5" id="145"/>
          <p:cNvSpPr/>
          <p:nvPr/>
        </p:nvSpPr>
        <p:spPr>
          <a:xfrm rot="3919980">
            <a:off x="15248449" y="4636227"/>
            <a:ext cx="265090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6" id="146"/>
          <p:cNvSpPr/>
          <p:nvPr/>
        </p:nvSpPr>
        <p:spPr>
          <a:xfrm rot="4015020">
            <a:off x="15320058" y="4855988"/>
            <a:ext cx="282178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7" id="147"/>
          <p:cNvSpPr/>
          <p:nvPr/>
        </p:nvSpPr>
        <p:spPr>
          <a:xfrm rot="3737820">
            <a:off x="15422308" y="5060652"/>
            <a:ext cx="237973" cy="0"/>
          </a:xfrm>
          <a:prstGeom prst="line">
            <a:avLst/>
          </a:prstGeom>
          <a:ln cap="rnd" w="19050">
            <a:solidFill>
              <a:srgbClr val="DCE9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8" id="148"/>
          <p:cNvSpPr/>
          <p:nvPr/>
        </p:nvSpPr>
        <p:spPr>
          <a:xfrm rot="24960">
            <a:off x="13006921" y="6510338"/>
            <a:ext cx="2625157" cy="0"/>
          </a:xfrm>
          <a:prstGeom prst="line">
            <a:avLst/>
          </a:prstGeom>
          <a:ln cap="rnd" w="9525">
            <a:solidFill>
              <a:srgbClr val="3A62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9" id="149"/>
          <p:cNvGrpSpPr/>
          <p:nvPr/>
        </p:nvGrpSpPr>
        <p:grpSpPr>
          <a:xfrm rot="0">
            <a:off x="13030200" y="6816852"/>
            <a:ext cx="2592324" cy="329184"/>
            <a:chOff x="0" y="0"/>
            <a:chExt cx="3456432" cy="43891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456432" cy="438912"/>
            </a:xfrm>
            <a:custGeom>
              <a:avLst/>
              <a:gdLst/>
              <a:ahLst/>
              <a:cxnLst/>
              <a:rect r="r" b="b" t="t" l="l"/>
              <a:pathLst>
                <a:path h="438912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0"/>
              <a:ext cx="345643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D7EBE6"/>
                  </a:solidFill>
                  <a:latin typeface="Aptos"/>
                  <a:ea typeface="Aptos"/>
                  <a:cs typeface="Aptos"/>
                  <a:sym typeface="Aptos"/>
                </a:rPr>
                <a:t>ACC  X / Y / Z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3030200" y="7173468"/>
            <a:ext cx="2592324" cy="329184"/>
            <a:chOff x="0" y="0"/>
            <a:chExt cx="3456432" cy="43891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456432" cy="438912"/>
            </a:xfrm>
            <a:custGeom>
              <a:avLst/>
              <a:gdLst/>
              <a:ahLst/>
              <a:cxnLst/>
              <a:rect r="r" b="b" t="t" l="l"/>
              <a:pathLst>
                <a:path h="438912" w="3456432">
                  <a:moveTo>
                    <a:pt x="0" y="0"/>
                  </a:moveTo>
                  <a:lnTo>
                    <a:pt x="3456432" y="0"/>
                  </a:lnTo>
                  <a:lnTo>
                    <a:pt x="3456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444" r="0" b="-103444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0"/>
              <a:ext cx="345643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D7EBE6"/>
                  </a:solidFill>
                  <a:latin typeface="Aptos"/>
                  <a:ea typeface="Aptos"/>
                  <a:cs typeface="Aptos"/>
                  <a:sym typeface="Aptos"/>
                </a:rPr>
                <a:t>GYRO X / Y / Z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987552" y="9498797"/>
            <a:ext cx="14137681" cy="250993"/>
            <a:chOff x="0" y="0"/>
            <a:chExt cx="20602196" cy="36576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0602195" cy="365760"/>
            </a:xfrm>
            <a:custGeom>
              <a:avLst/>
              <a:gdLst/>
              <a:ahLst/>
              <a:cxnLst/>
              <a:rect r="r" b="b" t="t" l="l"/>
              <a:pathLst>
                <a:path h="365760" w="20602195">
                  <a:moveTo>
                    <a:pt x="0" y="0"/>
                  </a:moveTo>
                  <a:lnTo>
                    <a:pt x="20602195" y="0"/>
                  </a:lnTo>
                  <a:lnTo>
                    <a:pt x="20602195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0473" r="67156" b="-310473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20602196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Fonte: WISDM / UCI Machine Learning Repository - https://archive.ics.uci.edu/dataset/507/wisdm+smartphone+and+smartwatch+activity+and+biometrics+dataset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5773400" y="9806940"/>
            <a:ext cx="1508760" cy="262305"/>
            <a:chOff x="0" y="0"/>
            <a:chExt cx="2011680" cy="34974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011680" cy="349740"/>
            </a:xfrm>
            <a:custGeom>
              <a:avLst/>
              <a:gdLst/>
              <a:ahLst/>
              <a:cxnLst/>
              <a:rect r="r" b="b" t="t" l="l"/>
              <a:pathLst>
                <a:path h="3497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49740"/>
                  </a:lnTo>
                  <a:lnTo>
                    <a:pt x="0" y="349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244" r="0" b="-53908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2011680" cy="349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 b="true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 / 14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7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552" y="384048"/>
            <a:ext cx="7818120" cy="274320"/>
            <a:chOff x="0" y="0"/>
            <a:chExt cx="1042416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424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22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EMBARCADA  /  PROJETO FINAL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0" y="384048"/>
            <a:ext cx="4389120" cy="274320"/>
            <a:chOff x="0" y="0"/>
            <a:chExt cx="585216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55"/>
                </a:lnSpc>
              </a:pPr>
              <a:r>
                <a:rPr lang="en-US" b="true" sz="1380" spc="16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  ·  GALAXY WATCH6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020">
            <a:off x="978017" y="859345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020">
            <a:off x="978017" y="9719882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1268" y="9820656"/>
            <a:ext cx="10012680" cy="205740"/>
            <a:chOff x="0" y="0"/>
            <a:chExt cx="1335024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0239" cy="274320"/>
            </a:xfrm>
            <a:custGeom>
              <a:avLst/>
              <a:gdLst/>
              <a:ahLst/>
              <a:cxnLst/>
              <a:rect r="r" b="b" t="t" l="l"/>
              <a:pathLst>
                <a:path h="27432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71" r="0" b="-89827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350240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spc="21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O PROBLEMA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2416" y="1207008"/>
            <a:ext cx="11658600" cy="342900"/>
            <a:chOff x="0" y="0"/>
            <a:chExt cx="155448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554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OBJETIVO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1268" y="1673352"/>
            <a:ext cx="16116300" cy="987552"/>
            <a:chOff x="0" y="0"/>
            <a:chExt cx="21488400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4884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984" r="0" b="-2679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48840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Reconhecer atividades pelo movimento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6132" y="2715768"/>
            <a:ext cx="16047720" cy="589788"/>
            <a:chOff x="0" y="0"/>
            <a:chExt cx="21396960" cy="7863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96961" cy="786384"/>
            </a:xfrm>
            <a:custGeom>
              <a:avLst/>
              <a:gdLst/>
              <a:ahLst/>
              <a:cxnLst/>
              <a:rect r="r" b="b" t="t" l="l"/>
              <a:pathLst>
                <a:path h="786384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74" r="0" b="-48017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3969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Em vez de imagens ou áudio, o modelo interpreta sequências dos sensores do pulso.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62228" y="3585972"/>
            <a:ext cx="9314688" cy="893064"/>
            <a:chOff x="0" y="0"/>
            <a:chExt cx="12419584" cy="11907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419585" cy="1190752"/>
            </a:xfrm>
            <a:custGeom>
              <a:avLst/>
              <a:gdLst/>
              <a:ahLst/>
              <a:cxnLst/>
              <a:rect r="r" b="b" t="t" l="l"/>
              <a:pathLst>
                <a:path h="1190752" w="12419585">
                  <a:moveTo>
                    <a:pt x="0" y="223266"/>
                  </a:moveTo>
                  <a:cubicBezTo>
                    <a:pt x="0" y="99949"/>
                    <a:pt x="99949" y="0"/>
                    <a:pt x="223266" y="0"/>
                  </a:cubicBezTo>
                  <a:lnTo>
                    <a:pt x="12196318" y="0"/>
                  </a:lnTo>
                  <a:cubicBezTo>
                    <a:pt x="12319636" y="0"/>
                    <a:pt x="12419585" y="99949"/>
                    <a:pt x="12419585" y="223266"/>
                  </a:cubicBezTo>
                  <a:lnTo>
                    <a:pt x="12419585" y="967486"/>
                  </a:lnTo>
                  <a:cubicBezTo>
                    <a:pt x="12419585" y="1090803"/>
                    <a:pt x="12319636" y="1190752"/>
                    <a:pt x="12196318" y="1190752"/>
                  </a:cubicBezTo>
                  <a:lnTo>
                    <a:pt x="223266" y="1190752"/>
                  </a:lnTo>
                  <a:cubicBezTo>
                    <a:pt x="99949" y="1190752"/>
                    <a:pt x="0" y="1090803"/>
                    <a:pt x="0" y="96748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93495" y="3734943"/>
            <a:ext cx="581406" cy="581406"/>
            <a:chOff x="0" y="0"/>
            <a:chExt cx="775208" cy="7752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75208" cy="775208"/>
            </a:xfrm>
            <a:custGeom>
              <a:avLst/>
              <a:gdLst/>
              <a:ahLst/>
              <a:cxnLst/>
              <a:rect r="r" b="b" t="t" l="l"/>
              <a:pathLst>
                <a:path h="775208" w="775208">
                  <a:moveTo>
                    <a:pt x="0" y="387604"/>
                  </a:moveTo>
                  <a:cubicBezTo>
                    <a:pt x="0" y="173482"/>
                    <a:pt x="173482" y="0"/>
                    <a:pt x="387604" y="0"/>
                  </a:cubicBezTo>
                  <a:cubicBezTo>
                    <a:pt x="601726" y="0"/>
                    <a:pt x="775208" y="173482"/>
                    <a:pt x="775208" y="387604"/>
                  </a:cubicBezTo>
                  <a:cubicBezTo>
                    <a:pt x="775208" y="601726"/>
                    <a:pt x="601726" y="775208"/>
                    <a:pt x="387604" y="775208"/>
                  </a:cubicBezTo>
                  <a:cubicBezTo>
                    <a:pt x="173482" y="775208"/>
                    <a:pt x="0" y="601726"/>
                    <a:pt x="0" y="387604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71600" y="3799332"/>
            <a:ext cx="425196" cy="288036"/>
            <a:chOff x="0" y="0"/>
            <a:chExt cx="566928" cy="3840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6928" cy="384048"/>
            </a:xfrm>
            <a:custGeom>
              <a:avLst/>
              <a:gdLst/>
              <a:ahLst/>
              <a:cxnLst/>
              <a:rect r="r" b="b" t="t" l="l"/>
              <a:pathLst>
                <a:path h="384048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915" t="0" r="-36915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66928" cy="384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180844" y="3771900"/>
            <a:ext cx="3977640" cy="452628"/>
            <a:chOff x="0" y="0"/>
            <a:chExt cx="5303520" cy="6035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03520" cy="603504"/>
            </a:xfrm>
            <a:custGeom>
              <a:avLst/>
              <a:gdLst/>
              <a:ahLst/>
              <a:cxnLst/>
              <a:rect r="r" b="b" t="t" l="l"/>
              <a:pathLst>
                <a:path h="60350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232" r="0" b="-12123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30352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Caminhar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26580" y="3826764"/>
            <a:ext cx="3017520" cy="356616"/>
            <a:chOff x="0" y="0"/>
            <a:chExt cx="4023360" cy="4754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23360" cy="475488"/>
            </a:xfrm>
            <a:custGeom>
              <a:avLst/>
              <a:gdLst/>
              <a:ahLst/>
              <a:cxnLst/>
              <a:rect r="r" b="b" t="t" l="l"/>
              <a:pathLst>
                <a:path h="475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73" r="0" b="-11487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02336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Walking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62228" y="4655820"/>
            <a:ext cx="9314688" cy="893064"/>
            <a:chOff x="0" y="0"/>
            <a:chExt cx="12419584" cy="1190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419585" cy="1190752"/>
            </a:xfrm>
            <a:custGeom>
              <a:avLst/>
              <a:gdLst/>
              <a:ahLst/>
              <a:cxnLst/>
              <a:rect r="r" b="b" t="t" l="l"/>
              <a:pathLst>
                <a:path h="1190752" w="12419585">
                  <a:moveTo>
                    <a:pt x="0" y="223266"/>
                  </a:moveTo>
                  <a:cubicBezTo>
                    <a:pt x="0" y="99949"/>
                    <a:pt x="99949" y="0"/>
                    <a:pt x="223266" y="0"/>
                  </a:cubicBezTo>
                  <a:lnTo>
                    <a:pt x="12196318" y="0"/>
                  </a:lnTo>
                  <a:cubicBezTo>
                    <a:pt x="12319636" y="0"/>
                    <a:pt x="12419585" y="99949"/>
                    <a:pt x="12419585" y="223266"/>
                  </a:cubicBezTo>
                  <a:lnTo>
                    <a:pt x="12419585" y="967486"/>
                  </a:lnTo>
                  <a:cubicBezTo>
                    <a:pt x="12419585" y="1090803"/>
                    <a:pt x="12319636" y="1190752"/>
                    <a:pt x="12196318" y="1190752"/>
                  </a:cubicBezTo>
                  <a:lnTo>
                    <a:pt x="223266" y="1190752"/>
                  </a:lnTo>
                  <a:cubicBezTo>
                    <a:pt x="99949" y="1190752"/>
                    <a:pt x="0" y="1090803"/>
                    <a:pt x="0" y="96748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93495" y="4804791"/>
            <a:ext cx="581406" cy="581406"/>
            <a:chOff x="0" y="0"/>
            <a:chExt cx="775208" cy="7752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75208" cy="775208"/>
            </a:xfrm>
            <a:custGeom>
              <a:avLst/>
              <a:gdLst/>
              <a:ahLst/>
              <a:cxnLst/>
              <a:rect r="r" b="b" t="t" l="l"/>
              <a:pathLst>
                <a:path h="775208" w="775208">
                  <a:moveTo>
                    <a:pt x="0" y="387604"/>
                  </a:moveTo>
                  <a:cubicBezTo>
                    <a:pt x="0" y="173482"/>
                    <a:pt x="173482" y="0"/>
                    <a:pt x="387604" y="0"/>
                  </a:cubicBezTo>
                  <a:cubicBezTo>
                    <a:pt x="601726" y="0"/>
                    <a:pt x="775208" y="173482"/>
                    <a:pt x="775208" y="387604"/>
                  </a:cubicBezTo>
                  <a:cubicBezTo>
                    <a:pt x="775208" y="601726"/>
                    <a:pt x="601726" y="775208"/>
                    <a:pt x="387604" y="775208"/>
                  </a:cubicBezTo>
                  <a:cubicBezTo>
                    <a:pt x="173482" y="775208"/>
                    <a:pt x="0" y="601726"/>
                    <a:pt x="0" y="387604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71600" y="4869180"/>
            <a:ext cx="425196" cy="288036"/>
            <a:chOff x="0" y="0"/>
            <a:chExt cx="566928" cy="3840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6928" cy="384048"/>
            </a:xfrm>
            <a:custGeom>
              <a:avLst/>
              <a:gdLst/>
              <a:ahLst/>
              <a:cxnLst/>
              <a:rect r="r" b="b" t="t" l="l"/>
              <a:pathLst>
                <a:path h="384048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915" t="0" r="-36915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566928" cy="384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80844" y="4841748"/>
            <a:ext cx="3977640" cy="452628"/>
            <a:chOff x="0" y="0"/>
            <a:chExt cx="5303520" cy="6035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03520" cy="603504"/>
            </a:xfrm>
            <a:custGeom>
              <a:avLst/>
              <a:gdLst/>
              <a:ahLst/>
              <a:cxnLst/>
              <a:rect r="r" b="b" t="t" l="l"/>
              <a:pathLst>
                <a:path h="60350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232" r="0" b="-12123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530352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Correr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926580" y="4896612"/>
            <a:ext cx="3017520" cy="356616"/>
            <a:chOff x="0" y="0"/>
            <a:chExt cx="4023360" cy="4754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23360" cy="475488"/>
            </a:xfrm>
            <a:custGeom>
              <a:avLst/>
              <a:gdLst/>
              <a:ahLst/>
              <a:cxnLst/>
              <a:rect r="r" b="b" t="t" l="l"/>
              <a:pathLst>
                <a:path h="475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73" r="0" b="-11487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02336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Jogging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62228" y="5725668"/>
            <a:ext cx="9314688" cy="893064"/>
            <a:chOff x="0" y="0"/>
            <a:chExt cx="12419584" cy="1190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419585" cy="1190752"/>
            </a:xfrm>
            <a:custGeom>
              <a:avLst/>
              <a:gdLst/>
              <a:ahLst/>
              <a:cxnLst/>
              <a:rect r="r" b="b" t="t" l="l"/>
              <a:pathLst>
                <a:path h="1190752" w="12419585">
                  <a:moveTo>
                    <a:pt x="0" y="223266"/>
                  </a:moveTo>
                  <a:cubicBezTo>
                    <a:pt x="0" y="99949"/>
                    <a:pt x="99949" y="0"/>
                    <a:pt x="223266" y="0"/>
                  </a:cubicBezTo>
                  <a:lnTo>
                    <a:pt x="12196318" y="0"/>
                  </a:lnTo>
                  <a:cubicBezTo>
                    <a:pt x="12319636" y="0"/>
                    <a:pt x="12419585" y="99949"/>
                    <a:pt x="12419585" y="223266"/>
                  </a:cubicBezTo>
                  <a:lnTo>
                    <a:pt x="12419585" y="967486"/>
                  </a:lnTo>
                  <a:cubicBezTo>
                    <a:pt x="12419585" y="1090803"/>
                    <a:pt x="12319636" y="1190752"/>
                    <a:pt x="12196318" y="1190752"/>
                  </a:cubicBezTo>
                  <a:lnTo>
                    <a:pt x="223266" y="1190752"/>
                  </a:lnTo>
                  <a:cubicBezTo>
                    <a:pt x="99949" y="1190752"/>
                    <a:pt x="0" y="1090803"/>
                    <a:pt x="0" y="96748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93495" y="5874639"/>
            <a:ext cx="581406" cy="581406"/>
            <a:chOff x="0" y="0"/>
            <a:chExt cx="775208" cy="7752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75208" cy="775208"/>
            </a:xfrm>
            <a:custGeom>
              <a:avLst/>
              <a:gdLst/>
              <a:ahLst/>
              <a:cxnLst/>
              <a:rect r="r" b="b" t="t" l="l"/>
              <a:pathLst>
                <a:path h="775208" w="775208">
                  <a:moveTo>
                    <a:pt x="0" y="387604"/>
                  </a:moveTo>
                  <a:cubicBezTo>
                    <a:pt x="0" y="173482"/>
                    <a:pt x="173482" y="0"/>
                    <a:pt x="387604" y="0"/>
                  </a:cubicBezTo>
                  <a:cubicBezTo>
                    <a:pt x="601726" y="0"/>
                    <a:pt x="775208" y="173482"/>
                    <a:pt x="775208" y="387604"/>
                  </a:cubicBezTo>
                  <a:cubicBezTo>
                    <a:pt x="775208" y="601726"/>
                    <a:pt x="601726" y="775208"/>
                    <a:pt x="387604" y="775208"/>
                  </a:cubicBezTo>
                  <a:cubicBezTo>
                    <a:pt x="173482" y="775208"/>
                    <a:pt x="0" y="601726"/>
                    <a:pt x="0" y="387604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71600" y="5939028"/>
            <a:ext cx="425196" cy="288036"/>
            <a:chOff x="0" y="0"/>
            <a:chExt cx="566928" cy="3840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66928" cy="384048"/>
            </a:xfrm>
            <a:custGeom>
              <a:avLst/>
              <a:gdLst/>
              <a:ahLst/>
              <a:cxnLst/>
              <a:rect r="r" b="b" t="t" l="l"/>
              <a:pathLst>
                <a:path h="384048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915" t="0" r="-3691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66928" cy="384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180844" y="5911596"/>
            <a:ext cx="3977640" cy="452628"/>
            <a:chOff x="0" y="0"/>
            <a:chExt cx="5303520" cy="6035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303520" cy="603504"/>
            </a:xfrm>
            <a:custGeom>
              <a:avLst/>
              <a:gdLst/>
              <a:ahLst/>
              <a:cxnLst/>
              <a:rect r="r" b="b" t="t" l="l"/>
              <a:pathLst>
                <a:path h="60350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232" r="0" b="-12123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530352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Escadas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926580" y="5966460"/>
            <a:ext cx="3017520" cy="356616"/>
            <a:chOff x="0" y="0"/>
            <a:chExt cx="4023360" cy="4754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023360" cy="475488"/>
            </a:xfrm>
            <a:custGeom>
              <a:avLst/>
              <a:gdLst/>
              <a:ahLst/>
              <a:cxnLst/>
              <a:rect r="r" b="b" t="t" l="l"/>
              <a:pathLst>
                <a:path h="475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73" r="0" b="-11487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402336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Stairs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62228" y="6795516"/>
            <a:ext cx="9314688" cy="893064"/>
            <a:chOff x="0" y="0"/>
            <a:chExt cx="12419584" cy="11907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419585" cy="1190752"/>
            </a:xfrm>
            <a:custGeom>
              <a:avLst/>
              <a:gdLst/>
              <a:ahLst/>
              <a:cxnLst/>
              <a:rect r="r" b="b" t="t" l="l"/>
              <a:pathLst>
                <a:path h="1190752" w="12419585">
                  <a:moveTo>
                    <a:pt x="0" y="223266"/>
                  </a:moveTo>
                  <a:cubicBezTo>
                    <a:pt x="0" y="99949"/>
                    <a:pt x="99949" y="0"/>
                    <a:pt x="223266" y="0"/>
                  </a:cubicBezTo>
                  <a:lnTo>
                    <a:pt x="12196318" y="0"/>
                  </a:lnTo>
                  <a:cubicBezTo>
                    <a:pt x="12319636" y="0"/>
                    <a:pt x="12419585" y="99949"/>
                    <a:pt x="12419585" y="223266"/>
                  </a:cubicBezTo>
                  <a:lnTo>
                    <a:pt x="12419585" y="967486"/>
                  </a:lnTo>
                  <a:cubicBezTo>
                    <a:pt x="12419585" y="1090803"/>
                    <a:pt x="12319636" y="1190752"/>
                    <a:pt x="12196318" y="1190752"/>
                  </a:cubicBezTo>
                  <a:lnTo>
                    <a:pt x="223266" y="1190752"/>
                  </a:lnTo>
                  <a:cubicBezTo>
                    <a:pt x="99949" y="1190752"/>
                    <a:pt x="0" y="1090803"/>
                    <a:pt x="0" y="96748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93495" y="6944487"/>
            <a:ext cx="581406" cy="581406"/>
            <a:chOff x="0" y="0"/>
            <a:chExt cx="775208" cy="7752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75208" cy="775208"/>
            </a:xfrm>
            <a:custGeom>
              <a:avLst/>
              <a:gdLst/>
              <a:ahLst/>
              <a:cxnLst/>
              <a:rect r="r" b="b" t="t" l="l"/>
              <a:pathLst>
                <a:path h="775208" w="775208">
                  <a:moveTo>
                    <a:pt x="0" y="387604"/>
                  </a:moveTo>
                  <a:cubicBezTo>
                    <a:pt x="0" y="173482"/>
                    <a:pt x="173482" y="0"/>
                    <a:pt x="387604" y="0"/>
                  </a:cubicBezTo>
                  <a:cubicBezTo>
                    <a:pt x="601726" y="0"/>
                    <a:pt x="775208" y="173482"/>
                    <a:pt x="775208" y="387604"/>
                  </a:cubicBezTo>
                  <a:cubicBezTo>
                    <a:pt x="775208" y="601726"/>
                    <a:pt x="601726" y="775208"/>
                    <a:pt x="387604" y="775208"/>
                  </a:cubicBezTo>
                  <a:cubicBezTo>
                    <a:pt x="173482" y="775208"/>
                    <a:pt x="0" y="601726"/>
                    <a:pt x="0" y="387604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371600" y="7008876"/>
            <a:ext cx="425196" cy="288036"/>
            <a:chOff x="0" y="0"/>
            <a:chExt cx="566928" cy="38404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66928" cy="384048"/>
            </a:xfrm>
            <a:custGeom>
              <a:avLst/>
              <a:gdLst/>
              <a:ahLst/>
              <a:cxnLst/>
              <a:rect r="r" b="b" t="t" l="l"/>
              <a:pathLst>
                <a:path h="384048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915" t="0" r="-36915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566928" cy="384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180844" y="6981444"/>
            <a:ext cx="3977640" cy="452628"/>
            <a:chOff x="0" y="0"/>
            <a:chExt cx="5303520" cy="60350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03520" cy="603504"/>
            </a:xfrm>
            <a:custGeom>
              <a:avLst/>
              <a:gdLst/>
              <a:ahLst/>
              <a:cxnLst/>
              <a:rect r="r" b="b" t="t" l="l"/>
              <a:pathLst>
                <a:path h="60350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232" r="0" b="-12123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530352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Escovar dentes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926580" y="7036308"/>
            <a:ext cx="3017520" cy="356616"/>
            <a:chOff x="0" y="0"/>
            <a:chExt cx="4023360" cy="47548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023360" cy="475488"/>
            </a:xfrm>
            <a:custGeom>
              <a:avLst/>
              <a:gdLst/>
              <a:ahLst/>
              <a:cxnLst/>
              <a:rect r="r" b="b" t="t" l="l"/>
              <a:pathLst>
                <a:path h="475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73" r="0" b="-11487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402336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Brushing Teeth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62228" y="7865364"/>
            <a:ext cx="9314688" cy="893064"/>
            <a:chOff x="0" y="0"/>
            <a:chExt cx="12419584" cy="1190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419585" cy="1190752"/>
            </a:xfrm>
            <a:custGeom>
              <a:avLst/>
              <a:gdLst/>
              <a:ahLst/>
              <a:cxnLst/>
              <a:rect r="r" b="b" t="t" l="l"/>
              <a:pathLst>
                <a:path h="1190752" w="12419585">
                  <a:moveTo>
                    <a:pt x="0" y="223266"/>
                  </a:moveTo>
                  <a:cubicBezTo>
                    <a:pt x="0" y="99949"/>
                    <a:pt x="99949" y="0"/>
                    <a:pt x="223266" y="0"/>
                  </a:cubicBezTo>
                  <a:lnTo>
                    <a:pt x="12196318" y="0"/>
                  </a:lnTo>
                  <a:cubicBezTo>
                    <a:pt x="12319636" y="0"/>
                    <a:pt x="12419585" y="99949"/>
                    <a:pt x="12419585" y="223266"/>
                  </a:cubicBezTo>
                  <a:lnTo>
                    <a:pt x="12419585" y="967486"/>
                  </a:lnTo>
                  <a:cubicBezTo>
                    <a:pt x="12419585" y="1090803"/>
                    <a:pt x="12319636" y="1190752"/>
                    <a:pt x="12196318" y="1190752"/>
                  </a:cubicBezTo>
                  <a:lnTo>
                    <a:pt x="223266" y="1190752"/>
                  </a:lnTo>
                  <a:cubicBezTo>
                    <a:pt x="99949" y="1190752"/>
                    <a:pt x="0" y="1090803"/>
                    <a:pt x="0" y="96748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293495" y="8014335"/>
            <a:ext cx="581406" cy="581406"/>
            <a:chOff x="0" y="0"/>
            <a:chExt cx="775208" cy="77520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75208" cy="775208"/>
            </a:xfrm>
            <a:custGeom>
              <a:avLst/>
              <a:gdLst/>
              <a:ahLst/>
              <a:cxnLst/>
              <a:rect r="r" b="b" t="t" l="l"/>
              <a:pathLst>
                <a:path h="775208" w="775208">
                  <a:moveTo>
                    <a:pt x="0" y="387604"/>
                  </a:moveTo>
                  <a:cubicBezTo>
                    <a:pt x="0" y="173482"/>
                    <a:pt x="173482" y="0"/>
                    <a:pt x="387604" y="0"/>
                  </a:cubicBezTo>
                  <a:cubicBezTo>
                    <a:pt x="601726" y="0"/>
                    <a:pt x="775208" y="173482"/>
                    <a:pt x="775208" y="387604"/>
                  </a:cubicBezTo>
                  <a:cubicBezTo>
                    <a:pt x="775208" y="601726"/>
                    <a:pt x="601726" y="775208"/>
                    <a:pt x="387604" y="775208"/>
                  </a:cubicBezTo>
                  <a:cubicBezTo>
                    <a:pt x="173482" y="775208"/>
                    <a:pt x="0" y="601726"/>
                    <a:pt x="0" y="387604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71600" y="8078724"/>
            <a:ext cx="425196" cy="288036"/>
            <a:chOff x="0" y="0"/>
            <a:chExt cx="566928" cy="38404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66928" cy="384048"/>
            </a:xfrm>
            <a:custGeom>
              <a:avLst/>
              <a:gdLst/>
              <a:ahLst/>
              <a:cxnLst/>
              <a:rect r="r" b="b" t="t" l="l"/>
              <a:pathLst>
                <a:path h="384048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915" t="0" r="-36915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566928" cy="384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2180844" y="8051292"/>
            <a:ext cx="3977640" cy="452628"/>
            <a:chOff x="0" y="0"/>
            <a:chExt cx="5303520" cy="60350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03520" cy="603504"/>
            </a:xfrm>
            <a:custGeom>
              <a:avLst/>
              <a:gdLst/>
              <a:ahLst/>
              <a:cxnLst/>
              <a:rect r="r" b="b" t="t" l="l"/>
              <a:pathLst>
                <a:path h="603504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232" r="0" b="-12123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530352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Bater palmas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926580" y="8106156"/>
            <a:ext cx="3017520" cy="356616"/>
            <a:chOff x="0" y="0"/>
            <a:chExt cx="4023360" cy="4754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023360" cy="475488"/>
            </a:xfrm>
            <a:custGeom>
              <a:avLst/>
              <a:gdLst/>
              <a:ahLst/>
              <a:cxnLst/>
              <a:rect r="r" b="b" t="t" l="l"/>
              <a:pathLst>
                <a:path h="47548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73" r="0" b="-11487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402336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Clapping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990707" y="3584067"/>
            <a:ext cx="6300978" cy="5546598"/>
            <a:chOff x="0" y="0"/>
            <a:chExt cx="8401304" cy="73954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401304" cy="7395464"/>
            </a:xfrm>
            <a:custGeom>
              <a:avLst/>
              <a:gdLst/>
              <a:ahLst/>
              <a:cxnLst/>
              <a:rect r="r" b="b" t="t" l="l"/>
              <a:pathLst>
                <a:path h="7395464" w="8401304">
                  <a:moveTo>
                    <a:pt x="0" y="440436"/>
                  </a:moveTo>
                  <a:cubicBezTo>
                    <a:pt x="0" y="197231"/>
                    <a:pt x="197231" y="0"/>
                    <a:pt x="440436" y="0"/>
                  </a:cubicBezTo>
                  <a:lnTo>
                    <a:pt x="7960868" y="0"/>
                  </a:lnTo>
                  <a:cubicBezTo>
                    <a:pt x="8204074" y="0"/>
                    <a:pt x="8401304" y="197231"/>
                    <a:pt x="8401304" y="440436"/>
                  </a:cubicBezTo>
                  <a:lnTo>
                    <a:pt x="8401304" y="6955028"/>
                  </a:lnTo>
                  <a:cubicBezTo>
                    <a:pt x="8401304" y="7198233"/>
                    <a:pt x="8204074" y="7395464"/>
                    <a:pt x="7960868" y="7395464"/>
                  </a:cubicBezTo>
                  <a:lnTo>
                    <a:pt x="440436" y="7395464"/>
                  </a:lnTo>
                  <a:cubicBezTo>
                    <a:pt x="197231" y="7395464"/>
                    <a:pt x="0" y="7198233"/>
                    <a:pt x="0" y="6955028"/>
                  </a:cubicBezTo>
                  <a:close/>
                </a:path>
              </a:pathLst>
            </a:custGeom>
            <a:blipFill>
              <a:blip r:embed="rId3"/>
              <a:stretch>
                <a:fillRect l="0" t="-25733" r="0" b="-25733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1480292" y="3858006"/>
            <a:ext cx="5294376" cy="384048"/>
            <a:chOff x="0" y="0"/>
            <a:chExt cx="7059168" cy="5120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059168" cy="512064"/>
            </a:xfrm>
            <a:custGeom>
              <a:avLst/>
              <a:gdLst/>
              <a:ahLst/>
              <a:cxnLst/>
              <a:rect r="r" b="b" t="t" l="l"/>
              <a:pathLst>
                <a:path h="512064" w="7059168">
                  <a:moveTo>
                    <a:pt x="0" y="0"/>
                  </a:moveTo>
                  <a:lnTo>
                    <a:pt x="7059168" y="0"/>
                  </a:lnTo>
                  <a:lnTo>
                    <a:pt x="705916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615" r="0" b="-21861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7059168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4"/>
                </a:lnSpc>
              </a:pPr>
              <a:r>
                <a:rPr lang="en-US" b="true" sz="1770" spc="150">
                  <a:solidFill>
                    <a:srgbClr val="B9E5D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 SINAL À CLASSE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773400" y="9806940"/>
            <a:ext cx="1508760" cy="322113"/>
            <a:chOff x="0" y="0"/>
            <a:chExt cx="2011680" cy="42948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011680" cy="429484"/>
            </a:xfrm>
            <a:custGeom>
              <a:avLst/>
              <a:gdLst/>
              <a:ahLst/>
              <a:cxnLst/>
              <a:rect r="r" b="b" t="t" l="l"/>
              <a:pathLst>
                <a:path h="42948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429484"/>
                  </a:lnTo>
                  <a:lnTo>
                    <a:pt x="0" y="4294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201" r="0" b="-25331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2011680" cy="429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 b="true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  / 14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7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0954" y="3751446"/>
            <a:ext cx="17210730" cy="5506854"/>
            <a:chOff x="0" y="0"/>
            <a:chExt cx="34778910" cy="111280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78872" cy="11128080"/>
            </a:xfrm>
            <a:custGeom>
              <a:avLst/>
              <a:gdLst/>
              <a:ahLst/>
              <a:cxnLst/>
              <a:rect r="r" b="b" t="t" l="l"/>
              <a:pathLst>
                <a:path h="11128080" w="34778872">
                  <a:moveTo>
                    <a:pt x="0" y="0"/>
                  </a:moveTo>
                  <a:lnTo>
                    <a:pt x="34778872" y="0"/>
                  </a:lnTo>
                  <a:lnTo>
                    <a:pt x="34778872" y="11128080"/>
                  </a:lnTo>
                  <a:lnTo>
                    <a:pt x="0" y="11128080"/>
                  </a:lnTo>
                  <a:close/>
                </a:path>
              </a:pathLst>
            </a:custGeom>
            <a:blipFill>
              <a:blip r:embed="rId2"/>
              <a:stretch>
                <a:fillRect l="-31" t="0" r="-3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552" y="384048"/>
            <a:ext cx="7818120" cy="274320"/>
            <a:chOff x="0" y="0"/>
            <a:chExt cx="10424160" cy="365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424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22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EMBARCADA  /  PROJETO FINAL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93040" y="384048"/>
            <a:ext cx="4389120" cy="274320"/>
            <a:chOff x="0" y="0"/>
            <a:chExt cx="5852160" cy="365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55"/>
                </a:lnSpc>
              </a:pPr>
              <a:r>
                <a:rPr lang="en-US" b="true" sz="1380" spc="16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  ·  GALAXY WATCH6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4020">
            <a:off x="978017" y="859345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4020">
            <a:off x="978017" y="9719882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01268" y="1203982"/>
            <a:ext cx="11802618" cy="347136"/>
            <a:chOff x="0" y="0"/>
            <a:chExt cx="15544800" cy="45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4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554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OBJETIVO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1268" y="1673352"/>
            <a:ext cx="16116300" cy="987552"/>
            <a:chOff x="0" y="0"/>
            <a:chExt cx="21488400" cy="13167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884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984" r="0" b="-2679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148840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EDA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56132" y="2715768"/>
            <a:ext cx="16047720" cy="1383871"/>
            <a:chOff x="0" y="0"/>
            <a:chExt cx="21396960" cy="18451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96961" cy="1845161"/>
            </a:xfrm>
            <a:custGeom>
              <a:avLst/>
              <a:gdLst/>
              <a:ahLst/>
              <a:cxnLst/>
              <a:rect r="r" b="b" t="t" l="l"/>
              <a:pathLst>
                <a:path h="1845161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845161"/>
                  </a:lnTo>
                  <a:lnTo>
                    <a:pt x="0" y="1845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644" r="0" b="-1472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21396960" cy="1835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860"/>
                </a:lnSpc>
                <a:spcBef>
                  <a:spcPct val="0"/>
                </a:spcBef>
              </a:pPr>
              <a:r>
                <a:rPr lang="en-US" b="true" sz="4050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Distribuição das classes e comportamento dos sinais de movimento</a:t>
              </a:r>
            </a:p>
            <a:p>
              <a:pPr algn="l" marL="0" indent="0" lvl="0">
                <a:lnSpc>
                  <a:spcPts val="48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4880" y="9635838"/>
            <a:ext cx="11065403" cy="561660"/>
            <a:chOff x="0" y="0"/>
            <a:chExt cx="13350240" cy="6776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350239" cy="677634"/>
            </a:xfrm>
            <a:custGeom>
              <a:avLst/>
              <a:gdLst/>
              <a:ahLst/>
              <a:cxnLst/>
              <a:rect r="r" b="b" t="t" l="l"/>
              <a:pathLst>
                <a:path h="677634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677634"/>
                  </a:lnTo>
                  <a:lnTo>
                    <a:pt x="0" y="6776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3638" r="0" b="-30412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3350240" cy="677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spc="21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ANÁLISE EXPLORATÓRIA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773400" y="9806940"/>
            <a:ext cx="1508760" cy="262305"/>
            <a:chOff x="0" y="0"/>
            <a:chExt cx="2011680" cy="3497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11680" cy="349740"/>
            </a:xfrm>
            <a:custGeom>
              <a:avLst/>
              <a:gdLst/>
              <a:ahLst/>
              <a:cxnLst/>
              <a:rect r="r" b="b" t="t" l="l"/>
              <a:pathLst>
                <a:path h="3497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49740"/>
                  </a:lnTo>
                  <a:lnTo>
                    <a:pt x="0" y="349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44" r="0" b="-539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011680" cy="349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 b="true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  / 14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7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552" y="384048"/>
            <a:ext cx="7818120" cy="274320"/>
            <a:chOff x="0" y="0"/>
            <a:chExt cx="1042416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424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22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EMBARCADA  /  PROJETO FINAL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0" y="384048"/>
            <a:ext cx="4389120" cy="274320"/>
            <a:chOff x="0" y="0"/>
            <a:chExt cx="585216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55"/>
                </a:lnSpc>
              </a:pPr>
              <a:r>
                <a:rPr lang="en-US" b="true" sz="1380" spc="16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  ·  GALAXY WATCH6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020">
            <a:off x="978017" y="859345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020">
            <a:off x="978017" y="9719882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1268" y="1203982"/>
            <a:ext cx="11802618" cy="347136"/>
            <a:chOff x="0" y="0"/>
            <a:chExt cx="15544800" cy="45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4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554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OBJETIVO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1268" y="1673352"/>
            <a:ext cx="16116300" cy="987552"/>
            <a:chOff x="0" y="0"/>
            <a:chExt cx="21488400" cy="1316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884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984" r="0" b="-26798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48840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EDA 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70080" y="5747004"/>
            <a:ext cx="1467612" cy="274320"/>
            <a:chOff x="0" y="0"/>
            <a:chExt cx="1956816" cy="365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56816" cy="365760"/>
            </a:xfrm>
            <a:custGeom>
              <a:avLst/>
              <a:gdLst/>
              <a:ahLst/>
              <a:cxnLst/>
              <a:rect r="r" b="b" t="t" l="l"/>
              <a:pathLst>
                <a:path h="365760" w="1956816">
                  <a:moveTo>
                    <a:pt x="0" y="0"/>
                  </a:moveTo>
                  <a:lnTo>
                    <a:pt x="1956816" y="0"/>
                  </a:lnTo>
                  <a:lnTo>
                    <a:pt x="195681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956816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x(t)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070080" y="6213348"/>
            <a:ext cx="1467612" cy="274320"/>
            <a:chOff x="0" y="0"/>
            <a:chExt cx="1956816" cy="365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56816" cy="365760"/>
            </a:xfrm>
            <a:custGeom>
              <a:avLst/>
              <a:gdLst/>
              <a:ahLst/>
              <a:cxnLst/>
              <a:rect r="r" b="b" t="t" l="l"/>
              <a:pathLst>
                <a:path h="365760" w="1956816">
                  <a:moveTo>
                    <a:pt x="0" y="0"/>
                  </a:moveTo>
                  <a:lnTo>
                    <a:pt x="1956816" y="0"/>
                  </a:lnTo>
                  <a:lnTo>
                    <a:pt x="195681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956816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y(t)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70080" y="6679692"/>
            <a:ext cx="1467612" cy="274320"/>
            <a:chOff x="0" y="0"/>
            <a:chExt cx="1956816" cy="365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56816" cy="365760"/>
            </a:xfrm>
            <a:custGeom>
              <a:avLst/>
              <a:gdLst/>
              <a:ahLst/>
              <a:cxnLst/>
              <a:rect r="r" b="b" t="t" l="l"/>
              <a:pathLst>
                <a:path h="365760" w="1956816">
                  <a:moveTo>
                    <a:pt x="0" y="0"/>
                  </a:moveTo>
                  <a:lnTo>
                    <a:pt x="1956816" y="0"/>
                  </a:lnTo>
                  <a:lnTo>
                    <a:pt x="195681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956816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z(t)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170283" y="8110347"/>
            <a:ext cx="3777234" cy="526542"/>
            <a:chOff x="0" y="0"/>
            <a:chExt cx="5036312" cy="702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36312" cy="701929"/>
            </a:xfrm>
            <a:custGeom>
              <a:avLst/>
              <a:gdLst/>
              <a:ahLst/>
              <a:cxnLst/>
              <a:rect r="r" b="b" t="t" l="l"/>
              <a:pathLst>
                <a:path h="701929" w="5036312">
                  <a:moveTo>
                    <a:pt x="0" y="303530"/>
                  </a:moveTo>
                  <a:cubicBezTo>
                    <a:pt x="0" y="135890"/>
                    <a:pt x="135890" y="0"/>
                    <a:pt x="303530" y="0"/>
                  </a:cubicBezTo>
                  <a:lnTo>
                    <a:pt x="4732782" y="0"/>
                  </a:lnTo>
                  <a:cubicBezTo>
                    <a:pt x="4900422" y="0"/>
                    <a:pt x="5036312" y="135890"/>
                    <a:pt x="5036312" y="303530"/>
                  </a:cubicBezTo>
                  <a:lnTo>
                    <a:pt x="5036312" y="398399"/>
                  </a:lnTo>
                  <a:cubicBezTo>
                    <a:pt x="5036312" y="566039"/>
                    <a:pt x="4900422" y="701929"/>
                    <a:pt x="4732782" y="701929"/>
                  </a:cubicBezTo>
                  <a:lnTo>
                    <a:pt x="303530" y="701929"/>
                  </a:lnTo>
                  <a:cubicBezTo>
                    <a:pt x="135890" y="702056"/>
                    <a:pt x="0" y="566166"/>
                    <a:pt x="0" y="3985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56132" y="2715768"/>
            <a:ext cx="16047720" cy="1383871"/>
            <a:chOff x="0" y="0"/>
            <a:chExt cx="21396960" cy="184516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396961" cy="1845161"/>
            </a:xfrm>
            <a:custGeom>
              <a:avLst/>
              <a:gdLst/>
              <a:ahLst/>
              <a:cxnLst/>
              <a:rect r="r" b="b" t="t" l="l"/>
              <a:pathLst>
                <a:path h="1845161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845161"/>
                  </a:lnTo>
                  <a:lnTo>
                    <a:pt x="0" y="1845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644" r="0" b="-1472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21396960" cy="1835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860"/>
                </a:lnSpc>
                <a:spcBef>
                  <a:spcPct val="0"/>
                </a:spcBef>
              </a:pPr>
              <a:r>
                <a:rPr lang="en-US" b="true" sz="4050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Distribuição das classes e comportamento dos sinais de movimento</a:t>
              </a:r>
            </a:p>
            <a:p>
              <a:pPr algn="l" marL="0" indent="0" lvl="0">
                <a:lnSpc>
                  <a:spcPts val="48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557348" y="4099639"/>
            <a:ext cx="8248324" cy="5347494"/>
          </a:xfrm>
          <a:custGeom>
            <a:avLst/>
            <a:gdLst/>
            <a:ahLst/>
            <a:cxnLst/>
            <a:rect r="r" b="b" t="t" l="l"/>
            <a:pathLst>
              <a:path h="5347494" w="8248324">
                <a:moveTo>
                  <a:pt x="0" y="0"/>
                </a:moveTo>
                <a:lnTo>
                  <a:pt x="8248324" y="0"/>
                </a:lnTo>
                <a:lnTo>
                  <a:pt x="8248324" y="5347494"/>
                </a:lnTo>
                <a:lnTo>
                  <a:pt x="0" y="53474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04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404895" y="4099639"/>
            <a:ext cx="8265594" cy="5299620"/>
          </a:xfrm>
          <a:custGeom>
            <a:avLst/>
            <a:gdLst/>
            <a:ahLst/>
            <a:cxnLst/>
            <a:rect r="r" b="b" t="t" l="l"/>
            <a:pathLst>
              <a:path h="5299620" w="8265594">
                <a:moveTo>
                  <a:pt x="0" y="0"/>
                </a:moveTo>
                <a:lnTo>
                  <a:pt x="8265594" y="0"/>
                </a:lnTo>
                <a:lnTo>
                  <a:pt x="8265594" y="5299620"/>
                </a:lnTo>
                <a:lnTo>
                  <a:pt x="0" y="529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535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104880" y="9635838"/>
            <a:ext cx="11065403" cy="561660"/>
            <a:chOff x="0" y="0"/>
            <a:chExt cx="13350240" cy="677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350239" cy="677634"/>
            </a:xfrm>
            <a:custGeom>
              <a:avLst/>
              <a:gdLst/>
              <a:ahLst/>
              <a:cxnLst/>
              <a:rect r="r" b="b" t="t" l="l"/>
              <a:pathLst>
                <a:path h="677634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677634"/>
                  </a:lnTo>
                  <a:lnTo>
                    <a:pt x="0" y="677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3638" r="0" b="-30412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3350240" cy="677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spc="21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ANÁLISE EXPLORATÓRIA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773400" y="9806940"/>
            <a:ext cx="1508760" cy="262305"/>
            <a:chOff x="0" y="0"/>
            <a:chExt cx="2011680" cy="3497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11680" cy="349740"/>
            </a:xfrm>
            <a:custGeom>
              <a:avLst/>
              <a:gdLst/>
              <a:ahLst/>
              <a:cxnLst/>
              <a:rect r="r" b="b" t="t" l="l"/>
              <a:pathLst>
                <a:path h="3497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49740"/>
                  </a:lnTo>
                  <a:lnTo>
                    <a:pt x="0" y="349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244" r="0" b="-5390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011680" cy="349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 b="true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  / 14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7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552" y="384048"/>
            <a:ext cx="7818120" cy="274320"/>
            <a:chOff x="0" y="0"/>
            <a:chExt cx="1042416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424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22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EMBARCADA  /  PROJETO FINAL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0" y="384048"/>
            <a:ext cx="4389120" cy="274320"/>
            <a:chOff x="0" y="0"/>
            <a:chExt cx="585216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55"/>
                </a:lnSpc>
              </a:pPr>
              <a:r>
                <a:rPr lang="en-US" b="true" sz="1380" spc="16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  ·  GALAXY WATCH6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020">
            <a:off x="978017" y="859345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020">
            <a:off x="978017" y="9719882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1268" y="9820656"/>
            <a:ext cx="10012680" cy="205740"/>
            <a:chOff x="0" y="0"/>
            <a:chExt cx="1335024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0239" cy="274320"/>
            </a:xfrm>
            <a:custGeom>
              <a:avLst/>
              <a:gdLst/>
              <a:ahLst/>
              <a:cxnLst/>
              <a:rect r="r" b="b" t="t" l="l"/>
              <a:pathLst>
                <a:path h="27432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71" r="0" b="-89827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350240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spc="21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PREPARAÇÃO DE DADOS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2416" y="1207008"/>
            <a:ext cx="11658600" cy="342900"/>
            <a:chOff x="0" y="0"/>
            <a:chExt cx="155448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554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MÉTODO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1268" y="1673352"/>
            <a:ext cx="16116300" cy="987552"/>
            <a:chOff x="0" y="0"/>
            <a:chExt cx="21488400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4884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984" r="0" b="-2679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48840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 WISDM aos exemplos de treino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6132" y="2715768"/>
            <a:ext cx="16047720" cy="589788"/>
            <a:chOff x="0" y="0"/>
            <a:chExt cx="21396960" cy="7863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96961" cy="786384"/>
            </a:xfrm>
            <a:custGeom>
              <a:avLst/>
              <a:gdLst/>
              <a:ahLst/>
              <a:cxnLst/>
              <a:rect r="r" b="b" t="t" l="l"/>
              <a:pathLst>
                <a:path h="786384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74" r="0" b="-48017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3969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A preparação dos sinais é tão importante quanto a arquitetura da rede.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62228" y="3764280"/>
            <a:ext cx="3800856" cy="3115056"/>
            <a:chOff x="0" y="0"/>
            <a:chExt cx="5067808" cy="41534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67808" cy="4153408"/>
            </a:xfrm>
            <a:custGeom>
              <a:avLst/>
              <a:gdLst/>
              <a:ahLst/>
              <a:cxnLst/>
              <a:rect r="r" b="b" t="t" l="l"/>
              <a:pathLst>
                <a:path h="4153408" w="5067808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773803" y="0"/>
                  </a:lnTo>
                  <a:cubicBezTo>
                    <a:pt x="4936236" y="0"/>
                    <a:pt x="5067808" y="131699"/>
                    <a:pt x="5067808" y="294005"/>
                  </a:cubicBezTo>
                  <a:lnTo>
                    <a:pt x="5067808" y="3859403"/>
                  </a:lnTo>
                  <a:cubicBezTo>
                    <a:pt x="5067808" y="4021836"/>
                    <a:pt x="4936109" y="4153408"/>
                    <a:pt x="4773803" y="4153408"/>
                  </a:cubicBezTo>
                  <a:lnTo>
                    <a:pt x="294005" y="4153408"/>
                  </a:lnTo>
                  <a:cubicBezTo>
                    <a:pt x="131699" y="4153408"/>
                    <a:pt x="0" y="4021709"/>
                    <a:pt x="0" y="3859403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16736" y="4046220"/>
            <a:ext cx="1001268" cy="562356"/>
            <a:chOff x="0" y="0"/>
            <a:chExt cx="1335024" cy="7498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35024" cy="749808"/>
            </a:xfrm>
            <a:custGeom>
              <a:avLst/>
              <a:gdLst/>
              <a:ahLst/>
              <a:cxnLst/>
              <a:rect r="r" b="b" t="t" l="l"/>
              <a:pathLst>
                <a:path h="749808" w="1335024">
                  <a:moveTo>
                    <a:pt x="0" y="0"/>
                  </a:moveTo>
                  <a:lnTo>
                    <a:pt x="1335024" y="0"/>
                  </a:lnTo>
                  <a:lnTo>
                    <a:pt x="1335024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060" t="0" r="-2206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335024" cy="749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16736" y="4869180"/>
            <a:ext cx="3182112" cy="534924"/>
            <a:chOff x="0" y="0"/>
            <a:chExt cx="4242816" cy="7132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42816" cy="713232"/>
            </a:xfrm>
            <a:custGeom>
              <a:avLst/>
              <a:gdLst/>
              <a:ahLst/>
              <a:cxnLst/>
              <a:rect r="r" b="b" t="t" l="l"/>
              <a:pathLst>
                <a:path h="713232" w="4242816">
                  <a:moveTo>
                    <a:pt x="0" y="0"/>
                  </a:moveTo>
                  <a:lnTo>
                    <a:pt x="4242816" y="0"/>
                  </a:lnTo>
                  <a:lnTo>
                    <a:pt x="4242816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910" r="0" b="-6591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242816" cy="713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Ler arquivos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16736" y="5687949"/>
            <a:ext cx="3182112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61747A"/>
                </a:solidFill>
                <a:latin typeface="Aptos"/>
                <a:ea typeface="Aptos"/>
                <a:cs typeface="Aptos"/>
                <a:sym typeface="Aptos"/>
              </a:rPr>
              <a:t>Séries temporais brutas de cada participante</a:t>
            </a:r>
          </a:p>
        </p:txBody>
      </p:sp>
      <p:sp>
        <p:nvSpPr>
          <p:cNvPr name="AutoShape 33" id="33"/>
          <p:cNvSpPr/>
          <p:nvPr/>
        </p:nvSpPr>
        <p:spPr>
          <a:xfrm rot="360180">
            <a:off x="4847130" y="5120259"/>
            <a:ext cx="400726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5079111" y="4969383"/>
            <a:ext cx="334518" cy="320802"/>
            <a:chOff x="0" y="0"/>
            <a:chExt cx="446024" cy="4277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46024" cy="427736"/>
            </a:xfrm>
            <a:custGeom>
              <a:avLst/>
              <a:gdLst/>
              <a:ahLst/>
              <a:cxnLst/>
              <a:rect r="r" b="b" t="t" l="l"/>
              <a:pathLst>
                <a:path h="427736" w="446024">
                  <a:moveTo>
                    <a:pt x="0" y="0"/>
                  </a:moveTo>
                  <a:lnTo>
                    <a:pt x="232156" y="0"/>
                  </a:lnTo>
                  <a:lnTo>
                    <a:pt x="446024" y="213868"/>
                  </a:lnTo>
                  <a:lnTo>
                    <a:pt x="232156" y="427736"/>
                  </a:lnTo>
                  <a:lnTo>
                    <a:pt x="0" y="427736"/>
                  </a:lnTo>
                  <a:lnTo>
                    <a:pt x="213868" y="213868"/>
                  </a:ln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231892" y="3764280"/>
            <a:ext cx="3800856" cy="3115056"/>
            <a:chOff x="0" y="0"/>
            <a:chExt cx="5067808" cy="41534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67808" cy="4153408"/>
            </a:xfrm>
            <a:custGeom>
              <a:avLst/>
              <a:gdLst/>
              <a:ahLst/>
              <a:cxnLst/>
              <a:rect r="r" b="b" t="t" l="l"/>
              <a:pathLst>
                <a:path h="4153408" w="5067808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773803" y="0"/>
                  </a:lnTo>
                  <a:cubicBezTo>
                    <a:pt x="4936236" y="0"/>
                    <a:pt x="5067808" y="131699"/>
                    <a:pt x="5067808" y="294005"/>
                  </a:cubicBezTo>
                  <a:lnTo>
                    <a:pt x="5067808" y="3859403"/>
                  </a:lnTo>
                  <a:cubicBezTo>
                    <a:pt x="5067808" y="4021836"/>
                    <a:pt x="4936109" y="4153408"/>
                    <a:pt x="4773803" y="4153408"/>
                  </a:cubicBezTo>
                  <a:lnTo>
                    <a:pt x="294005" y="4153408"/>
                  </a:lnTo>
                  <a:cubicBezTo>
                    <a:pt x="131699" y="4153408"/>
                    <a:pt x="0" y="4021709"/>
                    <a:pt x="0" y="3859403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5486400" y="4046220"/>
            <a:ext cx="1001268" cy="562356"/>
            <a:chOff x="0" y="0"/>
            <a:chExt cx="1335024" cy="7498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35024" cy="749808"/>
            </a:xfrm>
            <a:custGeom>
              <a:avLst/>
              <a:gdLst/>
              <a:ahLst/>
              <a:cxnLst/>
              <a:rect r="r" b="b" t="t" l="l"/>
              <a:pathLst>
                <a:path h="749808" w="1335024">
                  <a:moveTo>
                    <a:pt x="0" y="0"/>
                  </a:moveTo>
                  <a:lnTo>
                    <a:pt x="1335024" y="0"/>
                  </a:lnTo>
                  <a:lnTo>
                    <a:pt x="1335024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060" t="0" r="-2206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335024" cy="749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486400" y="4869180"/>
            <a:ext cx="3182112" cy="534924"/>
            <a:chOff x="0" y="0"/>
            <a:chExt cx="4242816" cy="7132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42816" cy="713232"/>
            </a:xfrm>
            <a:custGeom>
              <a:avLst/>
              <a:gdLst/>
              <a:ahLst/>
              <a:cxnLst/>
              <a:rect r="r" b="b" t="t" l="l"/>
              <a:pathLst>
                <a:path h="713232" w="4242816">
                  <a:moveTo>
                    <a:pt x="0" y="0"/>
                  </a:moveTo>
                  <a:lnTo>
                    <a:pt x="4242816" y="0"/>
                  </a:lnTo>
                  <a:lnTo>
                    <a:pt x="4242816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910" r="0" b="-6591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242816" cy="713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Selecionar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5486400" y="5687949"/>
            <a:ext cx="3182112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61747A"/>
                </a:solidFill>
                <a:latin typeface="Aptos"/>
                <a:ea typeface="Aptos"/>
                <a:cs typeface="Aptos"/>
                <a:sym typeface="Aptos"/>
              </a:rPr>
              <a:t>A / B / C / G / R e seis canais</a:t>
            </a:r>
          </a:p>
        </p:txBody>
      </p:sp>
      <p:sp>
        <p:nvSpPr>
          <p:cNvPr name="AutoShape 45" id="45"/>
          <p:cNvSpPr/>
          <p:nvPr/>
        </p:nvSpPr>
        <p:spPr>
          <a:xfrm rot="360180">
            <a:off x="9016794" y="5120259"/>
            <a:ext cx="400726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9248775" y="4969383"/>
            <a:ext cx="334518" cy="320802"/>
            <a:chOff x="0" y="0"/>
            <a:chExt cx="446024" cy="4277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6024" cy="427736"/>
            </a:xfrm>
            <a:custGeom>
              <a:avLst/>
              <a:gdLst/>
              <a:ahLst/>
              <a:cxnLst/>
              <a:rect r="r" b="b" t="t" l="l"/>
              <a:pathLst>
                <a:path h="427736" w="446024">
                  <a:moveTo>
                    <a:pt x="0" y="0"/>
                  </a:moveTo>
                  <a:lnTo>
                    <a:pt x="232156" y="0"/>
                  </a:lnTo>
                  <a:lnTo>
                    <a:pt x="446024" y="213868"/>
                  </a:lnTo>
                  <a:lnTo>
                    <a:pt x="232156" y="427736"/>
                  </a:lnTo>
                  <a:lnTo>
                    <a:pt x="0" y="427736"/>
                  </a:lnTo>
                  <a:lnTo>
                    <a:pt x="213868" y="213868"/>
                  </a:ln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401556" y="3764280"/>
            <a:ext cx="3800856" cy="3115056"/>
            <a:chOff x="0" y="0"/>
            <a:chExt cx="5067808" cy="415340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067808" cy="4153408"/>
            </a:xfrm>
            <a:custGeom>
              <a:avLst/>
              <a:gdLst/>
              <a:ahLst/>
              <a:cxnLst/>
              <a:rect r="r" b="b" t="t" l="l"/>
              <a:pathLst>
                <a:path h="4153408" w="5067808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773803" y="0"/>
                  </a:lnTo>
                  <a:cubicBezTo>
                    <a:pt x="4936236" y="0"/>
                    <a:pt x="5067808" y="131699"/>
                    <a:pt x="5067808" y="294005"/>
                  </a:cubicBezTo>
                  <a:lnTo>
                    <a:pt x="5067808" y="3859403"/>
                  </a:lnTo>
                  <a:cubicBezTo>
                    <a:pt x="5067808" y="4021836"/>
                    <a:pt x="4936109" y="4153408"/>
                    <a:pt x="4773803" y="4153408"/>
                  </a:cubicBezTo>
                  <a:lnTo>
                    <a:pt x="294005" y="4153408"/>
                  </a:lnTo>
                  <a:cubicBezTo>
                    <a:pt x="131699" y="4153408"/>
                    <a:pt x="0" y="4021709"/>
                    <a:pt x="0" y="3859403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656064" y="4046220"/>
            <a:ext cx="1001268" cy="562356"/>
            <a:chOff x="0" y="0"/>
            <a:chExt cx="1335024" cy="7498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35024" cy="749808"/>
            </a:xfrm>
            <a:custGeom>
              <a:avLst/>
              <a:gdLst/>
              <a:ahLst/>
              <a:cxnLst/>
              <a:rect r="r" b="b" t="t" l="l"/>
              <a:pathLst>
                <a:path h="749808" w="1335024">
                  <a:moveTo>
                    <a:pt x="0" y="0"/>
                  </a:moveTo>
                  <a:lnTo>
                    <a:pt x="1335024" y="0"/>
                  </a:lnTo>
                  <a:lnTo>
                    <a:pt x="1335024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060" t="0" r="-2206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335024" cy="749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56064" y="4869180"/>
            <a:ext cx="3182112" cy="534924"/>
            <a:chOff x="0" y="0"/>
            <a:chExt cx="4242816" cy="71323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42816" cy="713232"/>
            </a:xfrm>
            <a:custGeom>
              <a:avLst/>
              <a:gdLst/>
              <a:ahLst/>
              <a:cxnLst/>
              <a:rect r="r" b="b" t="t" l="l"/>
              <a:pathLst>
                <a:path h="713232" w="4242816">
                  <a:moveTo>
                    <a:pt x="0" y="0"/>
                  </a:moveTo>
                  <a:lnTo>
                    <a:pt x="4242816" y="0"/>
                  </a:lnTo>
                  <a:lnTo>
                    <a:pt x="4242816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910" r="0" b="-6591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4242816" cy="713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Sincronizar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656064" y="5687949"/>
            <a:ext cx="3182112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61747A"/>
                </a:solidFill>
                <a:latin typeface="Aptos"/>
                <a:ea typeface="Aptos"/>
                <a:cs typeface="Aptos"/>
                <a:sym typeface="Aptos"/>
              </a:rPr>
              <a:t>Aceleração + rotação na mesma linha do tempo</a:t>
            </a:r>
          </a:p>
        </p:txBody>
      </p:sp>
      <p:sp>
        <p:nvSpPr>
          <p:cNvPr name="AutoShape 57" id="57"/>
          <p:cNvSpPr/>
          <p:nvPr/>
        </p:nvSpPr>
        <p:spPr>
          <a:xfrm rot="360180">
            <a:off x="13186458" y="5120259"/>
            <a:ext cx="400726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13418439" y="4969383"/>
            <a:ext cx="334518" cy="320802"/>
            <a:chOff x="0" y="0"/>
            <a:chExt cx="446024" cy="4277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46024" cy="427736"/>
            </a:xfrm>
            <a:custGeom>
              <a:avLst/>
              <a:gdLst/>
              <a:ahLst/>
              <a:cxnLst/>
              <a:rect r="r" b="b" t="t" l="l"/>
              <a:pathLst>
                <a:path h="427736" w="446024">
                  <a:moveTo>
                    <a:pt x="0" y="0"/>
                  </a:moveTo>
                  <a:lnTo>
                    <a:pt x="232156" y="0"/>
                  </a:lnTo>
                  <a:lnTo>
                    <a:pt x="446024" y="213868"/>
                  </a:lnTo>
                  <a:lnTo>
                    <a:pt x="232156" y="427736"/>
                  </a:lnTo>
                  <a:lnTo>
                    <a:pt x="0" y="427736"/>
                  </a:lnTo>
                  <a:lnTo>
                    <a:pt x="213868" y="213868"/>
                  </a:ln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571220" y="3764280"/>
            <a:ext cx="3800856" cy="3115056"/>
            <a:chOff x="0" y="0"/>
            <a:chExt cx="5067808" cy="415340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067808" cy="4153408"/>
            </a:xfrm>
            <a:custGeom>
              <a:avLst/>
              <a:gdLst/>
              <a:ahLst/>
              <a:cxnLst/>
              <a:rect r="r" b="b" t="t" l="l"/>
              <a:pathLst>
                <a:path h="4153408" w="5067808">
                  <a:moveTo>
                    <a:pt x="0" y="294005"/>
                  </a:moveTo>
                  <a:cubicBezTo>
                    <a:pt x="0" y="131699"/>
                    <a:pt x="131699" y="0"/>
                    <a:pt x="294005" y="0"/>
                  </a:cubicBezTo>
                  <a:lnTo>
                    <a:pt x="4773803" y="0"/>
                  </a:lnTo>
                  <a:cubicBezTo>
                    <a:pt x="4936236" y="0"/>
                    <a:pt x="5067808" y="131699"/>
                    <a:pt x="5067808" y="294005"/>
                  </a:cubicBezTo>
                  <a:lnTo>
                    <a:pt x="5067808" y="3859403"/>
                  </a:lnTo>
                  <a:cubicBezTo>
                    <a:pt x="5067808" y="4021836"/>
                    <a:pt x="4936109" y="4153408"/>
                    <a:pt x="4773803" y="4153408"/>
                  </a:cubicBezTo>
                  <a:lnTo>
                    <a:pt x="294005" y="4153408"/>
                  </a:lnTo>
                  <a:cubicBezTo>
                    <a:pt x="131699" y="4153408"/>
                    <a:pt x="0" y="4021709"/>
                    <a:pt x="0" y="3859403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3825728" y="4046220"/>
            <a:ext cx="1001268" cy="562356"/>
            <a:chOff x="0" y="0"/>
            <a:chExt cx="1335024" cy="74980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35024" cy="749808"/>
            </a:xfrm>
            <a:custGeom>
              <a:avLst/>
              <a:gdLst/>
              <a:ahLst/>
              <a:cxnLst/>
              <a:rect r="r" b="b" t="t" l="l"/>
              <a:pathLst>
                <a:path h="749808" w="1335024">
                  <a:moveTo>
                    <a:pt x="0" y="0"/>
                  </a:moveTo>
                  <a:lnTo>
                    <a:pt x="1335024" y="0"/>
                  </a:lnTo>
                  <a:lnTo>
                    <a:pt x="1335024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060" t="0" r="-22060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335024" cy="749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825728" y="4869180"/>
            <a:ext cx="3182112" cy="534924"/>
            <a:chOff x="0" y="0"/>
            <a:chExt cx="4242816" cy="71323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42816" cy="713232"/>
            </a:xfrm>
            <a:custGeom>
              <a:avLst/>
              <a:gdLst/>
              <a:ahLst/>
              <a:cxnLst/>
              <a:rect r="r" b="b" t="t" l="l"/>
              <a:pathLst>
                <a:path h="713232" w="4242816">
                  <a:moveTo>
                    <a:pt x="0" y="0"/>
                  </a:moveTo>
                  <a:lnTo>
                    <a:pt x="4242816" y="0"/>
                  </a:lnTo>
                  <a:lnTo>
                    <a:pt x="4242816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910" r="0" b="-6591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4242816" cy="713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Criar janelas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3825728" y="5687949"/>
            <a:ext cx="3182112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61747A"/>
                </a:solidFill>
                <a:latin typeface="Aptos"/>
                <a:ea typeface="Aptos"/>
                <a:cs typeface="Aptos"/>
                <a:sym typeface="Aptos"/>
              </a:rPr>
              <a:t>Segmentos temporais rotulados por atividade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060323" y="7479411"/>
            <a:ext cx="16231362" cy="1294638"/>
            <a:chOff x="0" y="0"/>
            <a:chExt cx="21641816" cy="172618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641817" cy="1726184"/>
            </a:xfrm>
            <a:custGeom>
              <a:avLst/>
              <a:gdLst/>
              <a:ahLst/>
              <a:cxnLst/>
              <a:rect r="r" b="b" t="t" l="l"/>
              <a:pathLst>
                <a:path h="1726184" w="21641817">
                  <a:moveTo>
                    <a:pt x="0" y="278384"/>
                  </a:moveTo>
                  <a:cubicBezTo>
                    <a:pt x="0" y="124714"/>
                    <a:pt x="124714" y="0"/>
                    <a:pt x="278384" y="0"/>
                  </a:cubicBezTo>
                  <a:lnTo>
                    <a:pt x="21363432" y="0"/>
                  </a:lnTo>
                  <a:cubicBezTo>
                    <a:pt x="21517229" y="0"/>
                    <a:pt x="21641817" y="124714"/>
                    <a:pt x="21641817" y="278384"/>
                  </a:cubicBezTo>
                  <a:lnTo>
                    <a:pt x="21641817" y="1447800"/>
                  </a:lnTo>
                  <a:cubicBezTo>
                    <a:pt x="21641817" y="1601597"/>
                    <a:pt x="21517102" y="1726184"/>
                    <a:pt x="21363432" y="1726184"/>
                  </a:cubicBezTo>
                  <a:lnTo>
                    <a:pt x="278384" y="1726184"/>
                  </a:lnTo>
                  <a:cubicBezTo>
                    <a:pt x="124714" y="1726184"/>
                    <a:pt x="0" y="1601470"/>
                    <a:pt x="0" y="1447800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412748" y="7859268"/>
            <a:ext cx="3429000" cy="342900"/>
            <a:chOff x="0" y="0"/>
            <a:chExt cx="4572000" cy="457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5720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45720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REGRA ESSENCIAL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251960" y="7790688"/>
            <a:ext cx="12303252" cy="534924"/>
            <a:chOff x="0" y="0"/>
            <a:chExt cx="16404336" cy="71323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6404337" cy="713232"/>
            </a:xfrm>
            <a:custGeom>
              <a:avLst/>
              <a:gdLst/>
              <a:ahLst/>
              <a:cxnLst/>
              <a:rect r="r" b="b" t="t" l="l"/>
              <a:pathLst>
                <a:path h="713232" w="16404337">
                  <a:moveTo>
                    <a:pt x="0" y="0"/>
                  </a:moveTo>
                  <a:lnTo>
                    <a:pt x="16404337" y="0"/>
                  </a:lnTo>
                  <a:lnTo>
                    <a:pt x="16404337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16404336" cy="713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4"/>
                </a:lnSpc>
              </a:pPr>
              <a:r>
                <a:rPr lang="en-US" sz="2295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Separar por participante antes de criar janelas evita vazamento de dados.</a:t>
              </a:r>
            </a:p>
          </p:txBody>
        </p:sp>
      </p:grpSp>
      <p:sp>
        <p:nvSpPr>
          <p:cNvPr name="AutoShape 77" id="77"/>
          <p:cNvSpPr/>
          <p:nvPr/>
        </p:nvSpPr>
        <p:spPr>
          <a:xfrm rot="4020">
            <a:off x="1130417" y="1011745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8" id="78"/>
          <p:cNvGrpSpPr/>
          <p:nvPr/>
        </p:nvGrpSpPr>
        <p:grpSpPr>
          <a:xfrm rot="0">
            <a:off x="15773400" y="9806940"/>
            <a:ext cx="1508760" cy="262305"/>
            <a:chOff x="0" y="0"/>
            <a:chExt cx="2011680" cy="3497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11680" cy="349740"/>
            </a:xfrm>
            <a:custGeom>
              <a:avLst/>
              <a:gdLst/>
              <a:ahLst/>
              <a:cxnLst/>
              <a:rect r="r" b="b" t="t" l="l"/>
              <a:pathLst>
                <a:path h="3497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49740"/>
                  </a:lnTo>
                  <a:lnTo>
                    <a:pt x="0" y="349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244" r="0" b="-5390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2011680" cy="349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 b="true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 / 14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102C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552" y="384048"/>
            <a:ext cx="7818120" cy="274320"/>
            <a:chOff x="0" y="0"/>
            <a:chExt cx="1042416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424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224">
                  <a:solidFill>
                    <a:srgbClr val="B9E5D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EMBARCADA  /  PROJETO FINAL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0" y="384048"/>
            <a:ext cx="4389120" cy="274320"/>
            <a:chOff x="0" y="0"/>
            <a:chExt cx="585216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55"/>
                </a:lnSpc>
              </a:pPr>
              <a:r>
                <a:rPr lang="en-US" b="true" sz="1380" spc="164">
                  <a:solidFill>
                    <a:srgbClr val="B9E5D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  ·  GALAXY WATCH6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020">
            <a:off x="978017" y="859345"/>
            <a:ext cx="16327384" cy="0"/>
          </a:xfrm>
          <a:prstGeom prst="line">
            <a:avLst/>
          </a:prstGeom>
          <a:ln cap="rnd" w="9525">
            <a:solidFill>
              <a:srgbClr val="4561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020">
            <a:off x="978017" y="9719882"/>
            <a:ext cx="16327384" cy="0"/>
          </a:xfrm>
          <a:prstGeom prst="line">
            <a:avLst/>
          </a:prstGeom>
          <a:ln cap="rnd" w="9525">
            <a:solidFill>
              <a:srgbClr val="4561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1268" y="9820656"/>
            <a:ext cx="10012680" cy="205740"/>
            <a:chOff x="0" y="0"/>
            <a:chExt cx="1335024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0239" cy="274320"/>
            </a:xfrm>
            <a:custGeom>
              <a:avLst/>
              <a:gdLst/>
              <a:ahLst/>
              <a:cxnLst/>
              <a:rect r="r" b="b" t="t" l="l"/>
              <a:pathLst>
                <a:path h="27432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71" r="0" b="-89827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350240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spc="210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JANELAS TEMPORAIS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2416" y="1207008"/>
            <a:ext cx="11658600" cy="342900"/>
            <a:chOff x="0" y="0"/>
            <a:chExt cx="155448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554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C7E9A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ENGENHARIA DE ATRIBUTOS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1268" y="1673352"/>
            <a:ext cx="16116300" cy="987552"/>
            <a:chOff x="0" y="0"/>
            <a:chExt cx="21488400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4884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984" r="0" b="-2679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48840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 modelo enxerga 5 segundos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6132" y="2715768"/>
            <a:ext cx="16047720" cy="589788"/>
            <a:chOff x="0" y="0"/>
            <a:chExt cx="21396960" cy="7863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96961" cy="786384"/>
            </a:xfrm>
            <a:custGeom>
              <a:avLst/>
              <a:gdLst/>
              <a:ahLst/>
              <a:cxnLst/>
              <a:rect r="r" b="b" t="t" l="l"/>
              <a:pathLst>
                <a:path h="786384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74" r="0" b="-48017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3969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BFD3D6"/>
                  </a:solidFill>
                  <a:latin typeface="Aptos"/>
                  <a:ea typeface="Aptos"/>
                  <a:cs typeface="Aptos"/>
                  <a:sym typeface="Aptos"/>
                </a:rPr>
                <a:t>Uma nova janela começa a cada segundo, permitindo previsões recorrentes.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87755" y="3405759"/>
            <a:ext cx="1596390" cy="526542"/>
            <a:chOff x="0" y="0"/>
            <a:chExt cx="2128520" cy="7020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28520" cy="701929"/>
            </a:xfrm>
            <a:custGeom>
              <a:avLst/>
              <a:gdLst/>
              <a:ahLst/>
              <a:cxnLst/>
              <a:rect r="r" b="b" t="t" l="l"/>
              <a:pathLst>
                <a:path h="701929" w="2128520">
                  <a:moveTo>
                    <a:pt x="0" y="303530"/>
                  </a:moveTo>
                  <a:cubicBezTo>
                    <a:pt x="0" y="135890"/>
                    <a:pt x="135890" y="0"/>
                    <a:pt x="303530" y="0"/>
                  </a:cubicBezTo>
                  <a:lnTo>
                    <a:pt x="1824990" y="0"/>
                  </a:lnTo>
                  <a:cubicBezTo>
                    <a:pt x="1992630" y="0"/>
                    <a:pt x="2128520" y="135890"/>
                    <a:pt x="2128520" y="303530"/>
                  </a:cubicBezTo>
                  <a:lnTo>
                    <a:pt x="2128520" y="398399"/>
                  </a:lnTo>
                  <a:cubicBezTo>
                    <a:pt x="2128520" y="566039"/>
                    <a:pt x="1992630" y="701929"/>
                    <a:pt x="1824990" y="701929"/>
                  </a:cubicBezTo>
                  <a:lnTo>
                    <a:pt x="303530" y="701929"/>
                  </a:lnTo>
                  <a:cubicBezTo>
                    <a:pt x="135890" y="702056"/>
                    <a:pt x="0" y="566166"/>
                    <a:pt x="0" y="398526"/>
                  </a:cubicBezTo>
                  <a:close/>
                </a:path>
              </a:pathLst>
            </a:custGeom>
            <a:solidFill>
              <a:srgbClr val="21444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93292" y="3463290"/>
            <a:ext cx="1385316" cy="397764"/>
            <a:chOff x="0" y="0"/>
            <a:chExt cx="1847088" cy="5303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47088" cy="530352"/>
            </a:xfrm>
            <a:custGeom>
              <a:avLst/>
              <a:gdLst/>
              <a:ahLst/>
              <a:cxnLst/>
              <a:rect r="r" b="b" t="t" l="l"/>
              <a:pathLst>
                <a:path h="530352" w="1847088">
                  <a:moveTo>
                    <a:pt x="0" y="0"/>
                  </a:moveTo>
                  <a:lnTo>
                    <a:pt x="1847088" y="0"/>
                  </a:lnTo>
                  <a:lnTo>
                    <a:pt x="1847088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61" r="0" b="-1786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847088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 Hz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815971" y="3405759"/>
            <a:ext cx="3886962" cy="526542"/>
            <a:chOff x="0" y="0"/>
            <a:chExt cx="5182616" cy="7020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82616" cy="701929"/>
            </a:xfrm>
            <a:custGeom>
              <a:avLst/>
              <a:gdLst/>
              <a:ahLst/>
              <a:cxnLst/>
              <a:rect r="r" b="b" t="t" l="l"/>
              <a:pathLst>
                <a:path h="701929" w="5182616">
                  <a:moveTo>
                    <a:pt x="0" y="303530"/>
                  </a:moveTo>
                  <a:cubicBezTo>
                    <a:pt x="0" y="135890"/>
                    <a:pt x="135890" y="0"/>
                    <a:pt x="303530" y="0"/>
                  </a:cubicBezTo>
                  <a:lnTo>
                    <a:pt x="4879086" y="0"/>
                  </a:lnTo>
                  <a:cubicBezTo>
                    <a:pt x="5046726" y="0"/>
                    <a:pt x="5182616" y="135890"/>
                    <a:pt x="5182616" y="303530"/>
                  </a:cubicBezTo>
                  <a:lnTo>
                    <a:pt x="5182616" y="398399"/>
                  </a:lnTo>
                  <a:cubicBezTo>
                    <a:pt x="5182616" y="566039"/>
                    <a:pt x="5046726" y="701929"/>
                    <a:pt x="4879086" y="701929"/>
                  </a:cubicBezTo>
                  <a:lnTo>
                    <a:pt x="303530" y="701929"/>
                  </a:lnTo>
                  <a:cubicBezTo>
                    <a:pt x="135890" y="702056"/>
                    <a:pt x="0" y="566166"/>
                    <a:pt x="0" y="398526"/>
                  </a:cubicBezTo>
                  <a:close/>
                </a:path>
              </a:pathLst>
            </a:custGeom>
            <a:solidFill>
              <a:srgbClr val="21444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921508" y="3463290"/>
            <a:ext cx="3675888" cy="397764"/>
            <a:chOff x="0" y="0"/>
            <a:chExt cx="4901184" cy="5303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01184" cy="530352"/>
            </a:xfrm>
            <a:custGeom>
              <a:avLst/>
              <a:gdLst/>
              <a:ahLst/>
              <a:cxnLst/>
              <a:rect r="r" b="b" t="t" l="l"/>
              <a:pathLst>
                <a:path h="530352" w="4901184">
                  <a:moveTo>
                    <a:pt x="0" y="0"/>
                  </a:moveTo>
                  <a:lnTo>
                    <a:pt x="4901184" y="0"/>
                  </a:lnTo>
                  <a:lnTo>
                    <a:pt x="4901184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068" r="0" b="-13006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901184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100 leituras por janela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34759" y="3405759"/>
            <a:ext cx="3832098" cy="526542"/>
            <a:chOff x="0" y="0"/>
            <a:chExt cx="5109464" cy="7020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09464" cy="701929"/>
            </a:xfrm>
            <a:custGeom>
              <a:avLst/>
              <a:gdLst/>
              <a:ahLst/>
              <a:cxnLst/>
              <a:rect r="r" b="b" t="t" l="l"/>
              <a:pathLst>
                <a:path h="701929" w="5109464">
                  <a:moveTo>
                    <a:pt x="0" y="303530"/>
                  </a:moveTo>
                  <a:cubicBezTo>
                    <a:pt x="0" y="135890"/>
                    <a:pt x="135890" y="0"/>
                    <a:pt x="303530" y="0"/>
                  </a:cubicBezTo>
                  <a:lnTo>
                    <a:pt x="4805934" y="0"/>
                  </a:lnTo>
                  <a:cubicBezTo>
                    <a:pt x="4973574" y="0"/>
                    <a:pt x="5109464" y="135890"/>
                    <a:pt x="5109464" y="303530"/>
                  </a:cubicBezTo>
                  <a:lnTo>
                    <a:pt x="5109464" y="398399"/>
                  </a:lnTo>
                  <a:cubicBezTo>
                    <a:pt x="5109464" y="566039"/>
                    <a:pt x="4973574" y="701929"/>
                    <a:pt x="4805934" y="701929"/>
                  </a:cubicBezTo>
                  <a:lnTo>
                    <a:pt x="303530" y="701929"/>
                  </a:lnTo>
                  <a:cubicBezTo>
                    <a:pt x="135890" y="702056"/>
                    <a:pt x="0" y="566166"/>
                    <a:pt x="0" y="398526"/>
                  </a:cubicBezTo>
                  <a:close/>
                </a:path>
              </a:pathLst>
            </a:custGeom>
            <a:solidFill>
              <a:srgbClr val="21444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940296" y="3463290"/>
            <a:ext cx="3621024" cy="397764"/>
            <a:chOff x="0" y="0"/>
            <a:chExt cx="4828032" cy="5303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28032" cy="530352"/>
            </a:xfrm>
            <a:custGeom>
              <a:avLst/>
              <a:gdLst/>
              <a:ahLst/>
              <a:cxnLst/>
              <a:rect r="r" b="b" t="t" l="l"/>
              <a:pathLst>
                <a:path h="53035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381" r="0" b="-12738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828032" cy="5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 sinais sincronizados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5385900">
            <a:off x="377371" y="5989130"/>
            <a:ext cx="3250340" cy="0"/>
          </a:xfrm>
          <a:prstGeom prst="line">
            <a:avLst/>
          </a:prstGeom>
          <a:ln cap="rnd" w="9525">
            <a:solidFill>
              <a:srgbClr val="3452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810512" y="7818120"/>
            <a:ext cx="630936" cy="315468"/>
            <a:chOff x="0" y="0"/>
            <a:chExt cx="841248" cy="4206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41248" cy="420624"/>
            </a:xfrm>
            <a:custGeom>
              <a:avLst/>
              <a:gdLst/>
              <a:ahLst/>
              <a:cxnLst/>
              <a:rect r="r" b="b" t="t" l="l"/>
              <a:pathLst>
                <a:path h="420624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841248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A8C6C8"/>
                  </a:solidFill>
                  <a:latin typeface="Aptos"/>
                  <a:ea typeface="Aptos"/>
                  <a:cs typeface="Aptos"/>
                  <a:sym typeface="Aptos"/>
                </a:rPr>
                <a:t>0s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5385900">
            <a:off x="2297611" y="5989130"/>
            <a:ext cx="3250340" cy="0"/>
          </a:xfrm>
          <a:prstGeom prst="line">
            <a:avLst/>
          </a:prstGeom>
          <a:ln cap="rnd" w="9525">
            <a:solidFill>
              <a:srgbClr val="3452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3730752" y="7818120"/>
            <a:ext cx="630936" cy="315468"/>
            <a:chOff x="0" y="0"/>
            <a:chExt cx="841248" cy="4206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41248" cy="420624"/>
            </a:xfrm>
            <a:custGeom>
              <a:avLst/>
              <a:gdLst/>
              <a:ahLst/>
              <a:cxnLst/>
              <a:rect r="r" b="b" t="t" l="l"/>
              <a:pathLst>
                <a:path h="420624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841248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A8C6C8"/>
                  </a:solidFill>
                  <a:latin typeface="Aptos"/>
                  <a:ea typeface="Aptos"/>
                  <a:cs typeface="Aptos"/>
                  <a:sym typeface="Aptos"/>
                </a:rPr>
                <a:t>1s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5385900">
            <a:off x="4217851" y="5989130"/>
            <a:ext cx="3250340" cy="0"/>
          </a:xfrm>
          <a:prstGeom prst="line">
            <a:avLst/>
          </a:prstGeom>
          <a:ln cap="rnd" w="9525">
            <a:solidFill>
              <a:srgbClr val="3452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5650992" y="7818120"/>
            <a:ext cx="630936" cy="315468"/>
            <a:chOff x="0" y="0"/>
            <a:chExt cx="841248" cy="4206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41248" cy="420624"/>
            </a:xfrm>
            <a:custGeom>
              <a:avLst/>
              <a:gdLst/>
              <a:ahLst/>
              <a:cxnLst/>
              <a:rect r="r" b="b" t="t" l="l"/>
              <a:pathLst>
                <a:path h="420624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841248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A8C6C8"/>
                  </a:solidFill>
                  <a:latin typeface="Aptos"/>
                  <a:ea typeface="Aptos"/>
                  <a:cs typeface="Aptos"/>
                  <a:sym typeface="Aptos"/>
                </a:rPr>
                <a:t>2s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5385900">
            <a:off x="6138091" y="5989130"/>
            <a:ext cx="3250340" cy="0"/>
          </a:xfrm>
          <a:prstGeom prst="line">
            <a:avLst/>
          </a:prstGeom>
          <a:ln cap="rnd" w="9525">
            <a:solidFill>
              <a:srgbClr val="3452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7571232" y="7818120"/>
            <a:ext cx="630936" cy="315468"/>
            <a:chOff x="0" y="0"/>
            <a:chExt cx="841248" cy="4206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41248" cy="420624"/>
            </a:xfrm>
            <a:custGeom>
              <a:avLst/>
              <a:gdLst/>
              <a:ahLst/>
              <a:cxnLst/>
              <a:rect r="r" b="b" t="t" l="l"/>
              <a:pathLst>
                <a:path h="420624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41248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A8C6C8"/>
                  </a:solidFill>
                  <a:latin typeface="Aptos"/>
                  <a:ea typeface="Aptos"/>
                  <a:cs typeface="Aptos"/>
                  <a:sym typeface="Aptos"/>
                </a:rPr>
                <a:t>3s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 rot="5385900">
            <a:off x="8058331" y="5989130"/>
            <a:ext cx="3250340" cy="0"/>
          </a:xfrm>
          <a:prstGeom prst="line">
            <a:avLst/>
          </a:prstGeom>
          <a:ln cap="rnd" w="9525">
            <a:solidFill>
              <a:srgbClr val="3452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9491472" y="7818120"/>
            <a:ext cx="630936" cy="315468"/>
            <a:chOff x="0" y="0"/>
            <a:chExt cx="841248" cy="4206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41248" cy="420624"/>
            </a:xfrm>
            <a:custGeom>
              <a:avLst/>
              <a:gdLst/>
              <a:ahLst/>
              <a:cxnLst/>
              <a:rect r="r" b="b" t="t" l="l"/>
              <a:pathLst>
                <a:path h="420624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841248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A8C6C8"/>
                  </a:solidFill>
                  <a:latin typeface="Aptos"/>
                  <a:ea typeface="Aptos"/>
                  <a:cs typeface="Aptos"/>
                  <a:sym typeface="Aptos"/>
                </a:rPr>
                <a:t>4s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rot="5385900">
            <a:off x="9978571" y="5989130"/>
            <a:ext cx="3250340" cy="0"/>
          </a:xfrm>
          <a:prstGeom prst="line">
            <a:avLst/>
          </a:prstGeom>
          <a:ln cap="rnd" w="9525">
            <a:solidFill>
              <a:srgbClr val="3452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0" id="60"/>
          <p:cNvGrpSpPr/>
          <p:nvPr/>
        </p:nvGrpSpPr>
        <p:grpSpPr>
          <a:xfrm rot="0">
            <a:off x="11411712" y="7818120"/>
            <a:ext cx="630936" cy="315468"/>
            <a:chOff x="0" y="0"/>
            <a:chExt cx="841248" cy="4206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41248" cy="420624"/>
            </a:xfrm>
            <a:custGeom>
              <a:avLst/>
              <a:gdLst/>
              <a:ahLst/>
              <a:cxnLst/>
              <a:rect r="r" b="b" t="t" l="l"/>
              <a:pathLst>
                <a:path h="420624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41248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A8C6C8"/>
                  </a:solidFill>
                  <a:latin typeface="Aptos"/>
                  <a:ea typeface="Aptos"/>
                  <a:cs typeface="Aptos"/>
                  <a:sym typeface="Aptos"/>
                </a:rPr>
                <a:t>5s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5385900">
            <a:off x="11898811" y="5989130"/>
            <a:ext cx="3250340" cy="0"/>
          </a:xfrm>
          <a:prstGeom prst="line">
            <a:avLst/>
          </a:prstGeom>
          <a:ln cap="rnd" w="9525">
            <a:solidFill>
              <a:srgbClr val="3452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13331952" y="7818120"/>
            <a:ext cx="630936" cy="315468"/>
            <a:chOff x="0" y="0"/>
            <a:chExt cx="841248" cy="4206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41248" cy="420624"/>
            </a:xfrm>
            <a:custGeom>
              <a:avLst/>
              <a:gdLst/>
              <a:ahLst/>
              <a:cxnLst/>
              <a:rect r="r" b="b" t="t" l="l"/>
              <a:pathLst>
                <a:path h="420624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841248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A8C6C8"/>
                  </a:solidFill>
                  <a:latin typeface="Aptos"/>
                  <a:ea typeface="Aptos"/>
                  <a:cs typeface="Aptos"/>
                  <a:sym typeface="Aptos"/>
                </a:rPr>
                <a:t>6s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5385900">
            <a:off x="13819051" y="5989130"/>
            <a:ext cx="3250340" cy="0"/>
          </a:xfrm>
          <a:prstGeom prst="line">
            <a:avLst/>
          </a:prstGeom>
          <a:ln cap="rnd" w="9525">
            <a:solidFill>
              <a:srgbClr val="34525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0">
            <a:off x="15252192" y="7818120"/>
            <a:ext cx="630936" cy="315468"/>
            <a:chOff x="0" y="0"/>
            <a:chExt cx="841248" cy="4206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41248" cy="420624"/>
            </a:xfrm>
            <a:custGeom>
              <a:avLst/>
              <a:gdLst/>
              <a:ahLst/>
              <a:cxnLst/>
              <a:rect r="r" b="b" t="t" l="l"/>
              <a:pathLst>
                <a:path h="420624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841248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A8C6C8"/>
                  </a:solidFill>
                  <a:latin typeface="Aptos"/>
                  <a:ea typeface="Aptos"/>
                  <a:cs typeface="Aptos"/>
                  <a:sym typeface="Aptos"/>
                </a:rPr>
                <a:t>7s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38428" y="4622292"/>
            <a:ext cx="932688" cy="342900"/>
            <a:chOff x="0" y="0"/>
            <a:chExt cx="1243584" cy="457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43584" cy="457200"/>
            </a:xfrm>
            <a:custGeom>
              <a:avLst/>
              <a:gdLst/>
              <a:ahLst/>
              <a:cxnLst/>
              <a:rect r="r" b="b" t="t" l="l"/>
              <a:pathLst>
                <a:path h="457200" w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99" r="0" b="-299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1243584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4"/>
                </a:lnSpc>
              </a:pPr>
              <a:r>
                <a:rPr lang="en-US" sz="1695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Janela 1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993011" y="4612767"/>
            <a:ext cx="9620250" cy="595122"/>
            <a:chOff x="0" y="0"/>
            <a:chExt cx="12827000" cy="79349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827000" cy="793496"/>
            </a:xfrm>
            <a:custGeom>
              <a:avLst/>
              <a:gdLst/>
              <a:ahLst/>
              <a:cxnLst/>
              <a:rect r="r" b="b" t="t" l="l"/>
              <a:pathLst>
                <a:path h="793496" w="12827000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2713716" y="0"/>
                  </a:lnTo>
                  <a:cubicBezTo>
                    <a:pt x="12776200" y="0"/>
                    <a:pt x="12827000" y="50800"/>
                    <a:pt x="12827000" y="113411"/>
                  </a:cubicBezTo>
                  <a:lnTo>
                    <a:pt x="12827000" y="680085"/>
                  </a:lnTo>
                  <a:cubicBezTo>
                    <a:pt x="12827000" y="742696"/>
                    <a:pt x="12776200" y="793496"/>
                    <a:pt x="12713589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C7E9A5"/>
            </a:solidFill>
          </p:spPr>
        </p:sp>
      </p:grpSp>
      <p:sp>
        <p:nvSpPr>
          <p:cNvPr name="AutoShape 76" id="76"/>
          <p:cNvSpPr/>
          <p:nvPr/>
        </p:nvSpPr>
        <p:spPr>
          <a:xfrm rot="5316840">
            <a:off x="2765812" y="4905566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rot="5316840">
            <a:off x="3725932" y="4905566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rot="5316840">
            <a:off x="4686052" y="4905566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rot="5316840">
            <a:off x="5646172" y="4905566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rot="5316840">
            <a:off x="6606292" y="4905566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rot="5316840">
            <a:off x="7566412" y="4905566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5316840">
            <a:off x="8526532" y="4905566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rot="5316840">
            <a:off x="9486652" y="4905566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rot="5316840">
            <a:off x="10446772" y="4905566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5" id="85"/>
          <p:cNvGrpSpPr/>
          <p:nvPr/>
        </p:nvGrpSpPr>
        <p:grpSpPr>
          <a:xfrm rot="0">
            <a:off x="5733288" y="4732020"/>
            <a:ext cx="3429000" cy="274320"/>
            <a:chOff x="0" y="0"/>
            <a:chExt cx="4572000" cy="3657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572000" cy="365760"/>
            </a:xfrm>
            <a:custGeom>
              <a:avLst/>
              <a:gdLst/>
              <a:ahLst/>
              <a:cxnLst/>
              <a:rect r="r" b="b" t="t" l="l"/>
              <a:pathLst>
                <a:path h="36576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45720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70"/>
                </a:lnSpc>
              </a:pPr>
              <a:r>
                <a:rPr lang="en-US" sz="1725" b="true">
                  <a:solidFill>
                    <a:srgbClr val="102C3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0–5 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38428" y="5623560"/>
            <a:ext cx="932688" cy="342900"/>
            <a:chOff x="0" y="0"/>
            <a:chExt cx="1243584" cy="4572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243584" cy="457200"/>
            </a:xfrm>
            <a:custGeom>
              <a:avLst/>
              <a:gdLst/>
              <a:ahLst/>
              <a:cxnLst/>
              <a:rect r="r" b="b" t="t" l="l"/>
              <a:pathLst>
                <a:path h="457200" w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99" r="0" b="-299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1243584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4"/>
                </a:lnSpc>
              </a:pPr>
              <a:r>
                <a:rPr lang="en-US" sz="1695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Janela 2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3913251" y="5614035"/>
            <a:ext cx="9620250" cy="595122"/>
            <a:chOff x="0" y="0"/>
            <a:chExt cx="12827000" cy="7934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2827000" cy="793496"/>
            </a:xfrm>
            <a:custGeom>
              <a:avLst/>
              <a:gdLst/>
              <a:ahLst/>
              <a:cxnLst/>
              <a:rect r="r" b="b" t="t" l="l"/>
              <a:pathLst>
                <a:path h="793496" w="12827000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2713716" y="0"/>
                  </a:lnTo>
                  <a:cubicBezTo>
                    <a:pt x="12776200" y="0"/>
                    <a:pt x="12827000" y="50800"/>
                    <a:pt x="12827000" y="113411"/>
                  </a:cubicBezTo>
                  <a:lnTo>
                    <a:pt x="12827000" y="680085"/>
                  </a:lnTo>
                  <a:cubicBezTo>
                    <a:pt x="12827000" y="742696"/>
                    <a:pt x="12776200" y="793496"/>
                    <a:pt x="12713589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8DD1C2"/>
            </a:solidFill>
          </p:spPr>
        </p:sp>
      </p:grpSp>
      <p:sp>
        <p:nvSpPr>
          <p:cNvPr name="AutoShape 93" id="93"/>
          <p:cNvSpPr/>
          <p:nvPr/>
        </p:nvSpPr>
        <p:spPr>
          <a:xfrm rot="5316840">
            <a:off x="4686052" y="5906834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 rot="5316840">
            <a:off x="5646172" y="5906834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rot="5316840">
            <a:off x="6606292" y="5906834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rot="5316840">
            <a:off x="7566412" y="5906834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 rot="5316840">
            <a:off x="8526532" y="5906834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 rot="5316840">
            <a:off x="9486652" y="5906834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9" id="99"/>
          <p:cNvSpPr/>
          <p:nvPr/>
        </p:nvSpPr>
        <p:spPr>
          <a:xfrm rot="5316840">
            <a:off x="10446772" y="5906834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0" id="100"/>
          <p:cNvSpPr/>
          <p:nvPr/>
        </p:nvSpPr>
        <p:spPr>
          <a:xfrm rot="5316840">
            <a:off x="11406892" y="5906834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1" id="101"/>
          <p:cNvSpPr/>
          <p:nvPr/>
        </p:nvSpPr>
        <p:spPr>
          <a:xfrm rot="5316840">
            <a:off x="12367012" y="5906834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2" id="102"/>
          <p:cNvGrpSpPr/>
          <p:nvPr/>
        </p:nvGrpSpPr>
        <p:grpSpPr>
          <a:xfrm rot="0">
            <a:off x="7653528" y="5733288"/>
            <a:ext cx="3429000" cy="274320"/>
            <a:chOff x="0" y="0"/>
            <a:chExt cx="4572000" cy="36576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572000" cy="365760"/>
            </a:xfrm>
            <a:custGeom>
              <a:avLst/>
              <a:gdLst/>
              <a:ahLst/>
              <a:cxnLst/>
              <a:rect r="r" b="b" t="t" l="l"/>
              <a:pathLst>
                <a:path h="36576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45720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70"/>
                </a:lnSpc>
              </a:pPr>
              <a:r>
                <a:rPr lang="en-US" sz="1725" b="true">
                  <a:solidFill>
                    <a:srgbClr val="102C3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1–6 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38428" y="6624828"/>
            <a:ext cx="932688" cy="342900"/>
            <a:chOff x="0" y="0"/>
            <a:chExt cx="1243584" cy="4572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243584" cy="457200"/>
            </a:xfrm>
            <a:custGeom>
              <a:avLst/>
              <a:gdLst/>
              <a:ahLst/>
              <a:cxnLst/>
              <a:rect r="r" b="b" t="t" l="l"/>
              <a:pathLst>
                <a:path h="457200" w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99" r="0" b="-2999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1243584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4"/>
                </a:lnSpc>
              </a:pPr>
              <a:r>
                <a:rPr lang="en-US" sz="1695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Janela 3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5833491" y="6615303"/>
            <a:ext cx="9620250" cy="595122"/>
            <a:chOff x="0" y="0"/>
            <a:chExt cx="12827000" cy="79349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2827000" cy="793496"/>
            </a:xfrm>
            <a:custGeom>
              <a:avLst/>
              <a:gdLst/>
              <a:ahLst/>
              <a:cxnLst/>
              <a:rect r="r" b="b" t="t" l="l"/>
              <a:pathLst>
                <a:path h="793496" w="12827000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2713716" y="0"/>
                  </a:lnTo>
                  <a:cubicBezTo>
                    <a:pt x="12776200" y="0"/>
                    <a:pt x="12827000" y="50800"/>
                    <a:pt x="12827000" y="113411"/>
                  </a:cubicBezTo>
                  <a:lnTo>
                    <a:pt x="12827000" y="680085"/>
                  </a:lnTo>
                  <a:cubicBezTo>
                    <a:pt x="12827000" y="742696"/>
                    <a:pt x="12776200" y="793496"/>
                    <a:pt x="12713589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76B8BA"/>
            </a:solidFill>
          </p:spPr>
        </p:sp>
      </p:grpSp>
      <p:sp>
        <p:nvSpPr>
          <p:cNvPr name="AutoShape 110" id="110"/>
          <p:cNvSpPr/>
          <p:nvPr/>
        </p:nvSpPr>
        <p:spPr>
          <a:xfrm rot="5316840">
            <a:off x="6606292" y="6908101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1" id="111"/>
          <p:cNvSpPr/>
          <p:nvPr/>
        </p:nvSpPr>
        <p:spPr>
          <a:xfrm rot="5316840">
            <a:off x="7566412" y="6908101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2" id="112"/>
          <p:cNvSpPr/>
          <p:nvPr/>
        </p:nvSpPr>
        <p:spPr>
          <a:xfrm rot="5316840">
            <a:off x="8526532" y="6908101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3" id="113"/>
          <p:cNvSpPr/>
          <p:nvPr/>
        </p:nvSpPr>
        <p:spPr>
          <a:xfrm rot="5316840">
            <a:off x="9486652" y="6908101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4" id="114"/>
          <p:cNvSpPr/>
          <p:nvPr/>
        </p:nvSpPr>
        <p:spPr>
          <a:xfrm rot="5316840">
            <a:off x="10446772" y="6908101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5" id="115"/>
          <p:cNvSpPr/>
          <p:nvPr/>
        </p:nvSpPr>
        <p:spPr>
          <a:xfrm rot="5316840">
            <a:off x="11406892" y="6908101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6" id="116"/>
          <p:cNvSpPr/>
          <p:nvPr/>
        </p:nvSpPr>
        <p:spPr>
          <a:xfrm rot="5316840">
            <a:off x="12367012" y="6908101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7" id="117"/>
          <p:cNvSpPr/>
          <p:nvPr/>
        </p:nvSpPr>
        <p:spPr>
          <a:xfrm rot="5316840">
            <a:off x="13327132" y="6908101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8" id="118"/>
          <p:cNvSpPr/>
          <p:nvPr/>
        </p:nvSpPr>
        <p:spPr>
          <a:xfrm rot="5316840">
            <a:off x="14287252" y="6908101"/>
            <a:ext cx="393687" cy="0"/>
          </a:xfrm>
          <a:prstGeom prst="line">
            <a:avLst/>
          </a:prstGeom>
          <a:ln cap="rnd" w="9525">
            <a:solidFill>
              <a:srgbClr val="426A6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9" id="119"/>
          <p:cNvGrpSpPr/>
          <p:nvPr/>
        </p:nvGrpSpPr>
        <p:grpSpPr>
          <a:xfrm rot="0">
            <a:off x="9573768" y="6734556"/>
            <a:ext cx="3429000" cy="274320"/>
            <a:chOff x="0" y="0"/>
            <a:chExt cx="4572000" cy="3657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572000" cy="365760"/>
            </a:xfrm>
            <a:custGeom>
              <a:avLst/>
              <a:gdLst/>
              <a:ahLst/>
              <a:cxnLst/>
              <a:rect r="r" b="b" t="t" l="l"/>
              <a:pathLst>
                <a:path h="36576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45720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70"/>
                </a:lnSpc>
              </a:pPr>
              <a:r>
                <a:rPr lang="en-US" sz="1725" b="true">
                  <a:solidFill>
                    <a:srgbClr val="102C3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2–7 s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882247" y="8466963"/>
            <a:ext cx="5368290" cy="732282"/>
            <a:chOff x="0" y="0"/>
            <a:chExt cx="7157720" cy="97637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157720" cy="976376"/>
            </a:xfrm>
            <a:custGeom>
              <a:avLst/>
              <a:gdLst/>
              <a:ahLst/>
              <a:cxnLst/>
              <a:rect r="r" b="b" t="t" l="l"/>
              <a:pathLst>
                <a:path h="976376" w="7157720">
                  <a:moveTo>
                    <a:pt x="0" y="187706"/>
                  </a:moveTo>
                  <a:cubicBezTo>
                    <a:pt x="0" y="84074"/>
                    <a:pt x="84074" y="0"/>
                    <a:pt x="187706" y="0"/>
                  </a:cubicBezTo>
                  <a:lnTo>
                    <a:pt x="6970014" y="0"/>
                  </a:lnTo>
                  <a:cubicBezTo>
                    <a:pt x="7073773" y="0"/>
                    <a:pt x="7157720" y="84074"/>
                    <a:pt x="7157720" y="187706"/>
                  </a:cubicBezTo>
                  <a:lnTo>
                    <a:pt x="7157720" y="788670"/>
                  </a:lnTo>
                  <a:cubicBezTo>
                    <a:pt x="7157720" y="892429"/>
                    <a:pt x="7073646" y="976376"/>
                    <a:pt x="6970014" y="976376"/>
                  </a:cubicBezTo>
                  <a:lnTo>
                    <a:pt x="187706" y="976376"/>
                  </a:lnTo>
                  <a:cubicBezTo>
                    <a:pt x="84074" y="976376"/>
                    <a:pt x="0" y="892302"/>
                    <a:pt x="0" y="788670"/>
                  </a:cubicBezTo>
                  <a:close/>
                </a:path>
              </a:pathLst>
            </a:custGeom>
            <a:solidFill>
              <a:srgbClr val="21444D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2179808" y="8654796"/>
            <a:ext cx="4732020" cy="315468"/>
            <a:chOff x="0" y="0"/>
            <a:chExt cx="6309360" cy="42062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309360" cy="420624"/>
            </a:xfrm>
            <a:custGeom>
              <a:avLst/>
              <a:gdLst/>
              <a:ahLst/>
              <a:cxnLst/>
              <a:rect r="r" b="b" t="t" l="l"/>
              <a:pathLst>
                <a:path h="420624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630936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Formato de entrada  [1, 100, 6]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5773400" y="9806940"/>
            <a:ext cx="1508760" cy="262305"/>
            <a:chOff x="0" y="0"/>
            <a:chExt cx="2011680" cy="3497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011680" cy="349740"/>
            </a:xfrm>
            <a:custGeom>
              <a:avLst/>
              <a:gdLst/>
              <a:ahLst/>
              <a:cxnLst/>
              <a:rect r="r" b="b" t="t" l="l"/>
              <a:pathLst>
                <a:path h="3497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49740"/>
                  </a:lnTo>
                  <a:lnTo>
                    <a:pt x="0" y="349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244" r="0" b="-53908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2011680" cy="349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 b="true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07/ 14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2371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7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552" y="384048"/>
            <a:ext cx="7818120" cy="274320"/>
            <a:chOff x="0" y="0"/>
            <a:chExt cx="1042416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424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22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EMBARCADA  /  PROJETO FINAL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0" y="384048"/>
            <a:ext cx="4389120" cy="274320"/>
            <a:chOff x="0" y="0"/>
            <a:chExt cx="585216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55"/>
                </a:lnSpc>
              </a:pPr>
              <a:r>
                <a:rPr lang="en-US" b="true" sz="1380" spc="16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  ·  GALAXY WATCH6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020">
            <a:off x="978017" y="859345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020">
            <a:off x="978017" y="9719882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1268" y="9820656"/>
            <a:ext cx="10012680" cy="205740"/>
            <a:chOff x="0" y="0"/>
            <a:chExt cx="1335024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0239" cy="274320"/>
            </a:xfrm>
            <a:custGeom>
              <a:avLst/>
              <a:gdLst/>
              <a:ahLst/>
              <a:cxnLst/>
              <a:rect r="r" b="b" t="t" l="l"/>
              <a:pathLst>
                <a:path h="27432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71" r="0" b="-89827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350240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spc="21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MODELO DE IA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2416" y="1207008"/>
            <a:ext cx="11658600" cy="342900"/>
            <a:chOff x="0" y="0"/>
            <a:chExt cx="155448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554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EXPERIMENTOS ARQUITETURAIS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56132" y="2715768"/>
            <a:ext cx="16047720" cy="589788"/>
            <a:chOff x="0" y="0"/>
            <a:chExt cx="21396960" cy="7863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96961" cy="786384"/>
            </a:xfrm>
            <a:custGeom>
              <a:avLst/>
              <a:gdLst/>
              <a:ahLst/>
              <a:cxnLst/>
              <a:rect r="r" b="b" t="t" l="l"/>
              <a:pathLst>
                <a:path h="786384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74" r="0" b="-48017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3969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Arquiteturas comparadas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60323" y="3707511"/>
            <a:ext cx="3804666" cy="3606546"/>
            <a:chOff x="0" y="0"/>
            <a:chExt cx="5072888" cy="48087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72888" cy="4808728"/>
            </a:xfrm>
            <a:custGeom>
              <a:avLst/>
              <a:gdLst/>
              <a:ahLst/>
              <a:cxnLst/>
              <a:rect r="r" b="b" t="t" l="l"/>
              <a:pathLst>
                <a:path h="4808728" w="5072888">
                  <a:moveTo>
                    <a:pt x="0" y="525987"/>
                  </a:moveTo>
                  <a:cubicBezTo>
                    <a:pt x="0" y="235378"/>
                    <a:pt x="115824" y="0"/>
                    <a:pt x="258826" y="0"/>
                  </a:cubicBezTo>
                  <a:lnTo>
                    <a:pt x="4814062" y="0"/>
                  </a:lnTo>
                  <a:cubicBezTo>
                    <a:pt x="4957064" y="0"/>
                    <a:pt x="5072888" y="235378"/>
                    <a:pt x="5072888" y="525987"/>
                  </a:cubicBezTo>
                  <a:lnTo>
                    <a:pt x="5072888" y="4282741"/>
                  </a:lnTo>
                  <a:cubicBezTo>
                    <a:pt x="5072888" y="4573350"/>
                    <a:pt x="4957064" y="4808728"/>
                    <a:pt x="4814062" y="4808728"/>
                  </a:cubicBezTo>
                  <a:lnTo>
                    <a:pt x="258826" y="4808728"/>
                  </a:lnTo>
                  <a:cubicBezTo>
                    <a:pt x="115824" y="4808728"/>
                    <a:pt x="0" y="4573350"/>
                    <a:pt x="0" y="4282741"/>
                  </a:cubicBezTo>
                  <a:close/>
                </a:path>
              </a:pathLst>
            </a:custGeom>
            <a:solidFill>
              <a:srgbClr val="102C3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3991356"/>
            <a:ext cx="3360420" cy="451911"/>
            <a:chOff x="0" y="0"/>
            <a:chExt cx="4480560" cy="6025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80560" cy="602548"/>
            </a:xfrm>
            <a:custGeom>
              <a:avLst/>
              <a:gdLst/>
              <a:ahLst/>
              <a:cxnLst/>
              <a:rect r="r" b="b" t="t" l="l"/>
              <a:pathLst>
                <a:path h="60254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02548"/>
                  </a:lnTo>
                  <a:lnTo>
                    <a:pt x="0" y="6025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46" r="0" b="-9193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480560" cy="612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MLP - baseline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29987" y="3707511"/>
            <a:ext cx="3804666" cy="3606546"/>
            <a:chOff x="0" y="0"/>
            <a:chExt cx="5072888" cy="48087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72888" cy="4808728"/>
            </a:xfrm>
            <a:custGeom>
              <a:avLst/>
              <a:gdLst/>
              <a:ahLst/>
              <a:cxnLst/>
              <a:rect r="r" b="b" t="t" l="l"/>
              <a:pathLst>
                <a:path h="4808728" w="5072888">
                  <a:moveTo>
                    <a:pt x="0" y="525987"/>
                  </a:moveTo>
                  <a:cubicBezTo>
                    <a:pt x="0" y="235378"/>
                    <a:pt x="115824" y="0"/>
                    <a:pt x="258826" y="0"/>
                  </a:cubicBezTo>
                  <a:lnTo>
                    <a:pt x="4814062" y="0"/>
                  </a:lnTo>
                  <a:cubicBezTo>
                    <a:pt x="4957064" y="0"/>
                    <a:pt x="5072888" y="235378"/>
                    <a:pt x="5072888" y="525987"/>
                  </a:cubicBezTo>
                  <a:lnTo>
                    <a:pt x="5072888" y="4282741"/>
                  </a:lnTo>
                  <a:cubicBezTo>
                    <a:pt x="5072888" y="4573350"/>
                    <a:pt x="4957064" y="4808728"/>
                    <a:pt x="4814062" y="4808728"/>
                  </a:cubicBezTo>
                  <a:lnTo>
                    <a:pt x="258826" y="4808728"/>
                  </a:lnTo>
                  <a:cubicBezTo>
                    <a:pt x="115824" y="4808728"/>
                    <a:pt x="0" y="4573350"/>
                    <a:pt x="0" y="4282741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472684" y="3991356"/>
            <a:ext cx="3360420" cy="451911"/>
            <a:chOff x="0" y="0"/>
            <a:chExt cx="4480560" cy="6025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80560" cy="602548"/>
            </a:xfrm>
            <a:custGeom>
              <a:avLst/>
              <a:gdLst/>
              <a:ahLst/>
              <a:cxnLst/>
              <a:rect r="r" b="b" t="t" l="l"/>
              <a:pathLst>
                <a:path h="60254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02548"/>
                  </a:lnTo>
                  <a:lnTo>
                    <a:pt x="0" y="6025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46" r="0" b="-9193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480560" cy="612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CNN - Compacta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471541" y="4598824"/>
            <a:ext cx="3291840" cy="2641164"/>
            <a:chOff x="0" y="0"/>
            <a:chExt cx="4389120" cy="35215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89120" cy="3521552"/>
            </a:xfrm>
            <a:custGeom>
              <a:avLst/>
              <a:gdLst/>
              <a:ahLst/>
              <a:cxnLst/>
              <a:rect r="r" b="b" t="t" l="l"/>
              <a:pathLst>
                <a:path h="35215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521552"/>
                  </a:lnTo>
                  <a:lnTo>
                    <a:pt x="0" y="3521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74" r="0" b="6870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389120" cy="3521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Normalização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Conv1D: 16 filtro</a:t>
              </a: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s, kernel 5, ReLU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MaxPooling de tamanho 2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 Conv1D: 24 filtros, kernel 3, ReLU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Global Average Pooling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Dense 16, ReLU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 Dense 5, Softmax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01556" y="3709416"/>
            <a:ext cx="3800856" cy="3652266"/>
            <a:chOff x="0" y="0"/>
            <a:chExt cx="5067808" cy="48696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67808" cy="4869688"/>
            </a:xfrm>
            <a:custGeom>
              <a:avLst/>
              <a:gdLst/>
              <a:ahLst/>
              <a:cxnLst/>
              <a:rect r="r" b="b" t="t" l="l"/>
              <a:pathLst>
                <a:path h="4869688" w="5067808">
                  <a:moveTo>
                    <a:pt x="0" y="532753"/>
                  </a:moveTo>
                  <a:cubicBezTo>
                    <a:pt x="0" y="238351"/>
                    <a:pt x="115570" y="0"/>
                    <a:pt x="258318" y="0"/>
                  </a:cubicBezTo>
                  <a:lnTo>
                    <a:pt x="4809490" y="0"/>
                  </a:lnTo>
                  <a:cubicBezTo>
                    <a:pt x="4952111" y="0"/>
                    <a:pt x="5067808" y="238351"/>
                    <a:pt x="5067808" y="532753"/>
                  </a:cubicBezTo>
                  <a:lnTo>
                    <a:pt x="5067808" y="4336935"/>
                  </a:lnTo>
                  <a:cubicBezTo>
                    <a:pt x="5067808" y="4631075"/>
                    <a:pt x="4952238" y="4869688"/>
                    <a:pt x="4809490" y="4869688"/>
                  </a:cubicBezTo>
                  <a:lnTo>
                    <a:pt x="258318" y="4869688"/>
                  </a:lnTo>
                  <a:cubicBezTo>
                    <a:pt x="115570" y="4869688"/>
                    <a:pt x="0" y="4631337"/>
                    <a:pt x="0" y="4336935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642348" y="3991356"/>
            <a:ext cx="3360420" cy="451911"/>
            <a:chOff x="0" y="0"/>
            <a:chExt cx="4480560" cy="6025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80560" cy="602548"/>
            </a:xfrm>
            <a:custGeom>
              <a:avLst/>
              <a:gdLst/>
              <a:ahLst/>
              <a:cxnLst/>
              <a:rect r="r" b="b" t="t" l="l"/>
              <a:pathLst>
                <a:path h="60254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02548"/>
                  </a:lnTo>
                  <a:lnTo>
                    <a:pt x="0" y="6025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46" r="0" b="-9193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480560" cy="612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CNN - Média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76638" y="4598824"/>
            <a:ext cx="3291840" cy="2641164"/>
            <a:chOff x="0" y="0"/>
            <a:chExt cx="4389120" cy="35215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89120" cy="3521552"/>
            </a:xfrm>
            <a:custGeom>
              <a:avLst/>
              <a:gdLst/>
              <a:ahLst/>
              <a:cxnLst/>
              <a:rect r="r" b="b" t="t" l="l"/>
              <a:pathLst>
                <a:path h="35215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521552"/>
                  </a:lnTo>
                  <a:lnTo>
                    <a:pt x="0" y="3521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74" r="0" b="6870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389120" cy="3521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Normalização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Conv</a:t>
              </a: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1D: 32 filtros, kernel 5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MaxPooling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Conv1D: 64 filtros, kernel 3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 MaxPooling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Conv1D: 64 filtros, kernel 3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Global Average Pooling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Dense 32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Dense 5, Softmax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71220" y="3709416"/>
            <a:ext cx="3800856" cy="4471416"/>
            <a:chOff x="0" y="0"/>
            <a:chExt cx="5067808" cy="59618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67808" cy="5961888"/>
            </a:xfrm>
            <a:custGeom>
              <a:avLst/>
              <a:gdLst/>
              <a:ahLst/>
              <a:cxnLst/>
              <a:rect r="r" b="b" t="t" l="l"/>
              <a:pathLst>
                <a:path h="5961888" w="5067808">
                  <a:moveTo>
                    <a:pt x="0" y="652242"/>
                  </a:moveTo>
                  <a:cubicBezTo>
                    <a:pt x="0" y="291809"/>
                    <a:pt x="115570" y="0"/>
                    <a:pt x="258318" y="0"/>
                  </a:cubicBezTo>
                  <a:lnTo>
                    <a:pt x="4809490" y="0"/>
                  </a:lnTo>
                  <a:cubicBezTo>
                    <a:pt x="4952111" y="0"/>
                    <a:pt x="5067808" y="291809"/>
                    <a:pt x="5067808" y="652242"/>
                  </a:cubicBezTo>
                  <a:lnTo>
                    <a:pt x="5067808" y="5309646"/>
                  </a:lnTo>
                  <a:cubicBezTo>
                    <a:pt x="5067808" y="5669758"/>
                    <a:pt x="4952238" y="5961888"/>
                    <a:pt x="4809490" y="5961888"/>
                  </a:cubicBezTo>
                  <a:lnTo>
                    <a:pt x="258318" y="5961888"/>
                  </a:lnTo>
                  <a:cubicBezTo>
                    <a:pt x="115570" y="5961888"/>
                    <a:pt x="0" y="5670079"/>
                    <a:pt x="0" y="530964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812012" y="3903704"/>
            <a:ext cx="3360420" cy="539563"/>
            <a:chOff x="0" y="0"/>
            <a:chExt cx="4480560" cy="71941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480560" cy="719417"/>
            </a:xfrm>
            <a:custGeom>
              <a:avLst/>
              <a:gdLst/>
              <a:ahLst/>
              <a:cxnLst/>
              <a:rect r="r" b="b" t="t" l="l"/>
              <a:pathLst>
                <a:path h="719417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19417"/>
                  </a:lnTo>
                  <a:lnTo>
                    <a:pt x="0" y="7194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951" r="0" b="-6075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480560" cy="728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CNN - Profunda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812012" y="4596180"/>
            <a:ext cx="3291840" cy="3498414"/>
            <a:chOff x="0" y="0"/>
            <a:chExt cx="4389120" cy="46645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389120" cy="4664552"/>
            </a:xfrm>
            <a:custGeom>
              <a:avLst/>
              <a:gdLst/>
              <a:ahLst/>
              <a:cxnLst/>
              <a:rect r="r" b="b" t="t" l="l"/>
              <a:pathLst>
                <a:path h="46645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664552"/>
                  </a:lnTo>
                  <a:lnTo>
                    <a:pt x="0" y="4664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41" r="0" b="7637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389120" cy="4664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Normalização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Conv1D: 32 filtros, kernel 5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 Conv1D: 32 filtros, kernel 3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 MaxPooling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Conv1D: 64 filtros, kernel 3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Conv1D: 64 filtros, kernel 3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 MaxPooling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 Conv1D: 128 filtros, kernel 3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 Global Average Pooling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Dense 64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Dense 5, Softmax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74039" y="8247507"/>
            <a:ext cx="16203930" cy="691134"/>
            <a:chOff x="0" y="0"/>
            <a:chExt cx="21605240" cy="9215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605239" cy="921512"/>
            </a:xfrm>
            <a:custGeom>
              <a:avLst/>
              <a:gdLst/>
              <a:ahLst/>
              <a:cxnLst/>
              <a:rect r="r" b="b" t="t" l="l"/>
              <a:pathLst>
                <a:path h="921512" w="21605239">
                  <a:moveTo>
                    <a:pt x="0" y="169291"/>
                  </a:moveTo>
                  <a:cubicBezTo>
                    <a:pt x="0" y="75819"/>
                    <a:pt x="75819" y="0"/>
                    <a:pt x="169291" y="0"/>
                  </a:cubicBezTo>
                  <a:lnTo>
                    <a:pt x="21435949" y="0"/>
                  </a:lnTo>
                  <a:cubicBezTo>
                    <a:pt x="21529421" y="0"/>
                    <a:pt x="21605239" y="75819"/>
                    <a:pt x="21605239" y="169291"/>
                  </a:cubicBezTo>
                  <a:lnTo>
                    <a:pt x="21605239" y="752221"/>
                  </a:lnTo>
                  <a:cubicBezTo>
                    <a:pt x="21605239" y="845693"/>
                    <a:pt x="21529421" y="921512"/>
                    <a:pt x="21435949" y="921512"/>
                  </a:cubicBezTo>
                  <a:lnTo>
                    <a:pt x="169291" y="921512"/>
                  </a:lnTo>
                  <a:cubicBezTo>
                    <a:pt x="75819" y="921512"/>
                    <a:pt x="0" y="845693"/>
                    <a:pt x="0" y="752221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67612" y="8407908"/>
            <a:ext cx="15485364" cy="370332"/>
            <a:chOff x="0" y="0"/>
            <a:chExt cx="20647152" cy="49377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647152" cy="493776"/>
            </a:xfrm>
            <a:custGeom>
              <a:avLst/>
              <a:gdLst/>
              <a:ahLst/>
              <a:cxnLst/>
              <a:rect r="r" b="b" t="t" l="l"/>
              <a:pathLst>
                <a:path h="493776" w="20647152">
                  <a:moveTo>
                    <a:pt x="0" y="0"/>
                  </a:moveTo>
                  <a:lnTo>
                    <a:pt x="20647152" y="0"/>
                  </a:lnTo>
                  <a:lnTo>
                    <a:pt x="20647152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4763" r="0" b="-76476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0647152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15313A"/>
                  </a:solidFill>
                  <a:latin typeface="Aptos"/>
                  <a:ea typeface="Aptos"/>
                  <a:cs typeface="Aptos"/>
                  <a:sym typeface="Aptos"/>
                </a:rPr>
                <a:t>Treinamento: Adam + Early Stopping   ·   Saída: probabilidade para cada atividade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01268" y="1673352"/>
            <a:ext cx="16116300" cy="987552"/>
            <a:chOff x="0" y="0"/>
            <a:chExt cx="21488400" cy="13167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4884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984" r="0" b="-26798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2148840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MLP</a:t>
              </a:r>
              <a:r>
                <a:rPr lang="en-US" sz="43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| CNN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99972" y="4598824"/>
            <a:ext cx="3291840" cy="2355414"/>
            <a:chOff x="0" y="0"/>
            <a:chExt cx="4389120" cy="31405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9120" cy="3140552"/>
            </a:xfrm>
            <a:custGeom>
              <a:avLst/>
              <a:gdLst/>
              <a:ahLst/>
              <a:cxnLst/>
              <a:rect r="r" b="b" t="t" l="l"/>
              <a:pathLst>
                <a:path h="31405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140552"/>
                  </a:lnTo>
                  <a:lnTo>
                    <a:pt x="0" y="3140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70" r="0" b="6490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389120" cy="3140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Entrada 100 × 6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Normalização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Flatten: 100 × 6 vira um vetor de 600 valores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 Dense 64, ReLU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 Dropout 20%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 Dense 32, ReLU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 Dense 5, Softmax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773400" y="9806940"/>
            <a:ext cx="1508760" cy="262305"/>
            <a:chOff x="0" y="0"/>
            <a:chExt cx="2011680" cy="3497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11680" cy="349740"/>
            </a:xfrm>
            <a:custGeom>
              <a:avLst/>
              <a:gdLst/>
              <a:ahLst/>
              <a:cxnLst/>
              <a:rect r="r" b="b" t="t" l="l"/>
              <a:pathLst>
                <a:path h="3497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49740"/>
                  </a:lnTo>
                  <a:lnTo>
                    <a:pt x="0" y="349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244" r="0" b="-5390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011680" cy="349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 b="true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08  / 14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2371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7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552" y="384048"/>
            <a:ext cx="7818120" cy="274320"/>
            <a:chOff x="0" y="0"/>
            <a:chExt cx="1042416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424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22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EMBARCADA  /  PROJETO FINAL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0" y="384048"/>
            <a:ext cx="4389120" cy="274320"/>
            <a:chOff x="0" y="0"/>
            <a:chExt cx="585216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55"/>
                </a:lnSpc>
              </a:pPr>
              <a:r>
                <a:rPr lang="en-US" b="true" sz="1380" spc="16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  ·  GALAXY WATCH6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020">
            <a:off x="978017" y="859345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020">
            <a:off x="978017" y="9719882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1268" y="9814315"/>
            <a:ext cx="10321290" cy="212081"/>
            <a:chOff x="0" y="0"/>
            <a:chExt cx="1335024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0239" cy="274320"/>
            </a:xfrm>
            <a:custGeom>
              <a:avLst/>
              <a:gdLst/>
              <a:ahLst/>
              <a:cxnLst/>
              <a:rect r="r" b="b" t="t" l="l"/>
              <a:pathLst>
                <a:path h="27432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71" r="0" b="-89827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350240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spc="21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MODELO DE IA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2416" y="1101826"/>
            <a:ext cx="11658600" cy="448082"/>
            <a:chOff x="0" y="0"/>
            <a:chExt cx="15544800" cy="5974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0" cy="597443"/>
            </a:xfrm>
            <a:custGeom>
              <a:avLst/>
              <a:gdLst/>
              <a:ahLst/>
              <a:cxnLst/>
              <a:rect r="r" b="b" t="t" l="l"/>
              <a:pathLst>
                <a:path h="597443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597443"/>
                  </a:lnTo>
                  <a:lnTo>
                    <a:pt x="0" y="5974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8715" r="0" b="-44524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5544800" cy="597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RESULTADOS E VARIÁVEIS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56132" y="2715768"/>
            <a:ext cx="16047720" cy="589788"/>
            <a:chOff x="0" y="0"/>
            <a:chExt cx="21396960" cy="7863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96961" cy="786384"/>
            </a:xfrm>
            <a:custGeom>
              <a:avLst/>
              <a:gdLst/>
              <a:ahLst/>
              <a:cxnLst/>
              <a:rect r="r" b="b" t="t" l="l"/>
              <a:pathLst>
                <a:path h="786384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74" r="0" b="-48017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3969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Resultados Avaliados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60323" y="3707511"/>
            <a:ext cx="3804666" cy="3606546"/>
            <a:chOff x="0" y="0"/>
            <a:chExt cx="5072888" cy="48087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72888" cy="4808728"/>
            </a:xfrm>
            <a:custGeom>
              <a:avLst/>
              <a:gdLst/>
              <a:ahLst/>
              <a:cxnLst/>
              <a:rect r="r" b="b" t="t" l="l"/>
              <a:pathLst>
                <a:path h="4808728" w="5072888">
                  <a:moveTo>
                    <a:pt x="0" y="525987"/>
                  </a:moveTo>
                  <a:cubicBezTo>
                    <a:pt x="0" y="235378"/>
                    <a:pt x="115824" y="0"/>
                    <a:pt x="258826" y="0"/>
                  </a:cubicBezTo>
                  <a:lnTo>
                    <a:pt x="4814062" y="0"/>
                  </a:lnTo>
                  <a:cubicBezTo>
                    <a:pt x="4957064" y="0"/>
                    <a:pt x="5072888" y="235378"/>
                    <a:pt x="5072888" y="525987"/>
                  </a:cubicBezTo>
                  <a:lnTo>
                    <a:pt x="5072888" y="4282741"/>
                  </a:lnTo>
                  <a:cubicBezTo>
                    <a:pt x="5072888" y="4573350"/>
                    <a:pt x="4957064" y="4808728"/>
                    <a:pt x="4814062" y="4808728"/>
                  </a:cubicBezTo>
                  <a:lnTo>
                    <a:pt x="258826" y="4808728"/>
                  </a:lnTo>
                  <a:cubicBezTo>
                    <a:pt x="115824" y="4808728"/>
                    <a:pt x="0" y="4573350"/>
                    <a:pt x="0" y="4282741"/>
                  </a:cubicBezTo>
                  <a:close/>
                </a:path>
              </a:pathLst>
            </a:custGeom>
            <a:solidFill>
              <a:srgbClr val="102C3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3991356"/>
            <a:ext cx="3360420" cy="451911"/>
            <a:chOff x="0" y="0"/>
            <a:chExt cx="4480560" cy="6025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80560" cy="602548"/>
            </a:xfrm>
            <a:custGeom>
              <a:avLst/>
              <a:gdLst/>
              <a:ahLst/>
              <a:cxnLst/>
              <a:rect r="r" b="b" t="t" l="l"/>
              <a:pathLst>
                <a:path h="60254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02548"/>
                  </a:lnTo>
                  <a:lnTo>
                    <a:pt x="0" y="6025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46" r="0" b="-9193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480560" cy="612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MLP - base line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29987" y="3707511"/>
            <a:ext cx="3804666" cy="3606546"/>
            <a:chOff x="0" y="0"/>
            <a:chExt cx="5072888" cy="48087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72888" cy="4808728"/>
            </a:xfrm>
            <a:custGeom>
              <a:avLst/>
              <a:gdLst/>
              <a:ahLst/>
              <a:cxnLst/>
              <a:rect r="r" b="b" t="t" l="l"/>
              <a:pathLst>
                <a:path h="4808728" w="5072888">
                  <a:moveTo>
                    <a:pt x="0" y="525987"/>
                  </a:moveTo>
                  <a:cubicBezTo>
                    <a:pt x="0" y="235378"/>
                    <a:pt x="115824" y="0"/>
                    <a:pt x="258826" y="0"/>
                  </a:cubicBezTo>
                  <a:lnTo>
                    <a:pt x="4814062" y="0"/>
                  </a:lnTo>
                  <a:cubicBezTo>
                    <a:pt x="4957064" y="0"/>
                    <a:pt x="5072888" y="235378"/>
                    <a:pt x="5072888" y="525987"/>
                  </a:cubicBezTo>
                  <a:lnTo>
                    <a:pt x="5072888" y="4282741"/>
                  </a:lnTo>
                  <a:cubicBezTo>
                    <a:pt x="5072888" y="4573350"/>
                    <a:pt x="4957064" y="4808728"/>
                    <a:pt x="4814062" y="4808728"/>
                  </a:cubicBezTo>
                  <a:lnTo>
                    <a:pt x="258826" y="4808728"/>
                  </a:lnTo>
                  <a:cubicBezTo>
                    <a:pt x="115824" y="4808728"/>
                    <a:pt x="0" y="4573350"/>
                    <a:pt x="0" y="4282741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472684" y="3991356"/>
            <a:ext cx="3360420" cy="451911"/>
            <a:chOff x="0" y="0"/>
            <a:chExt cx="4480560" cy="6025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80560" cy="602548"/>
            </a:xfrm>
            <a:custGeom>
              <a:avLst/>
              <a:gdLst/>
              <a:ahLst/>
              <a:cxnLst/>
              <a:rect r="r" b="b" t="t" l="l"/>
              <a:pathLst>
                <a:path h="60254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02548"/>
                  </a:lnTo>
                  <a:lnTo>
                    <a:pt x="0" y="6025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46" r="0" b="-9193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480560" cy="612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CNN - Compacta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490214" y="4591777"/>
            <a:ext cx="3291840" cy="2641164"/>
            <a:chOff x="0" y="0"/>
            <a:chExt cx="4389120" cy="35215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89120" cy="3521552"/>
            </a:xfrm>
            <a:custGeom>
              <a:avLst/>
              <a:gdLst/>
              <a:ahLst/>
              <a:cxnLst/>
              <a:rect r="r" b="b" t="t" l="l"/>
              <a:pathLst>
                <a:path h="35215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521552"/>
                  </a:lnTo>
                  <a:lnTo>
                    <a:pt x="0" y="3521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74" r="0" b="6870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389120" cy="3521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 Parâmetros: 2.157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b="true" sz="1875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Keras/FP32 accuracy: 83,94%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b="true" sz="1875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 Keras/FP32 macro-F1: 0,8377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b="true" sz="1875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 INT8 accuracy: 84,30%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b="true" sz="1875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 INT8 macro-F1: 0,8421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b="true" sz="1875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 Tamanho FP32: 14,66 KB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b="true" sz="1875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 Tamanho INT8: 10,70 KB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01556" y="3709416"/>
            <a:ext cx="3800856" cy="3652266"/>
            <a:chOff x="0" y="0"/>
            <a:chExt cx="5067808" cy="48696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67808" cy="4869688"/>
            </a:xfrm>
            <a:custGeom>
              <a:avLst/>
              <a:gdLst/>
              <a:ahLst/>
              <a:cxnLst/>
              <a:rect r="r" b="b" t="t" l="l"/>
              <a:pathLst>
                <a:path h="4869688" w="5067808">
                  <a:moveTo>
                    <a:pt x="0" y="532753"/>
                  </a:moveTo>
                  <a:cubicBezTo>
                    <a:pt x="0" y="238351"/>
                    <a:pt x="115570" y="0"/>
                    <a:pt x="258318" y="0"/>
                  </a:cubicBezTo>
                  <a:lnTo>
                    <a:pt x="4809490" y="0"/>
                  </a:lnTo>
                  <a:cubicBezTo>
                    <a:pt x="4952111" y="0"/>
                    <a:pt x="5067808" y="238351"/>
                    <a:pt x="5067808" y="532753"/>
                  </a:cubicBezTo>
                  <a:lnTo>
                    <a:pt x="5067808" y="4336935"/>
                  </a:lnTo>
                  <a:cubicBezTo>
                    <a:pt x="5067808" y="4631075"/>
                    <a:pt x="4952238" y="4869688"/>
                    <a:pt x="4809490" y="4869688"/>
                  </a:cubicBezTo>
                  <a:lnTo>
                    <a:pt x="258318" y="4869688"/>
                  </a:lnTo>
                  <a:cubicBezTo>
                    <a:pt x="115570" y="4869688"/>
                    <a:pt x="0" y="4631337"/>
                    <a:pt x="0" y="4336935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642348" y="3991356"/>
            <a:ext cx="3360420" cy="451911"/>
            <a:chOff x="0" y="0"/>
            <a:chExt cx="4480560" cy="6025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80560" cy="602548"/>
            </a:xfrm>
            <a:custGeom>
              <a:avLst/>
              <a:gdLst/>
              <a:ahLst/>
              <a:cxnLst/>
              <a:rect r="r" b="b" t="t" l="l"/>
              <a:pathLst>
                <a:path h="60254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02548"/>
                  </a:lnTo>
                  <a:lnTo>
                    <a:pt x="0" y="6025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46" r="0" b="-9193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480560" cy="612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CNN - Média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42348" y="4732020"/>
            <a:ext cx="3291840" cy="2641164"/>
            <a:chOff x="0" y="0"/>
            <a:chExt cx="4389120" cy="35215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89120" cy="3521552"/>
            </a:xfrm>
            <a:custGeom>
              <a:avLst/>
              <a:gdLst/>
              <a:ahLst/>
              <a:cxnLst/>
              <a:rect r="r" b="b" t="t" l="l"/>
              <a:pathLst>
                <a:path h="35215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521552"/>
                  </a:lnTo>
                  <a:lnTo>
                    <a:pt x="0" y="3521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74" r="0" b="6870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389120" cy="3521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Parâmetros: 21.797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Keras/FP32 accuracy: 82,88%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Keras/FP32 macro-F1: 0,8290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 INT8 accuracy: 82,88%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INT8 macro-F1: 0,8290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Tamanho FP32: 92,88 KB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Tamanho INT8: 35,23 KB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71220" y="3709416"/>
            <a:ext cx="3800856" cy="3509391"/>
            <a:chOff x="0" y="0"/>
            <a:chExt cx="5067808" cy="46791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67808" cy="4679188"/>
            </a:xfrm>
            <a:custGeom>
              <a:avLst/>
              <a:gdLst/>
              <a:ahLst/>
              <a:cxnLst/>
              <a:rect r="r" b="b" t="t" l="l"/>
              <a:pathLst>
                <a:path h="4679188" w="5067808">
                  <a:moveTo>
                    <a:pt x="0" y="511912"/>
                  </a:moveTo>
                  <a:cubicBezTo>
                    <a:pt x="0" y="229027"/>
                    <a:pt x="115570" y="0"/>
                    <a:pt x="258318" y="0"/>
                  </a:cubicBezTo>
                  <a:lnTo>
                    <a:pt x="4809490" y="0"/>
                  </a:lnTo>
                  <a:cubicBezTo>
                    <a:pt x="4952111" y="0"/>
                    <a:pt x="5067808" y="229027"/>
                    <a:pt x="5067808" y="511912"/>
                  </a:cubicBezTo>
                  <a:lnTo>
                    <a:pt x="5067808" y="4167276"/>
                  </a:lnTo>
                  <a:cubicBezTo>
                    <a:pt x="5067808" y="4449910"/>
                    <a:pt x="4952238" y="4679188"/>
                    <a:pt x="4809490" y="4679188"/>
                  </a:cubicBezTo>
                  <a:lnTo>
                    <a:pt x="258318" y="4679188"/>
                  </a:lnTo>
                  <a:cubicBezTo>
                    <a:pt x="115570" y="4679188"/>
                    <a:pt x="0" y="4450162"/>
                    <a:pt x="0" y="416727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812012" y="3991356"/>
            <a:ext cx="3360420" cy="451911"/>
            <a:chOff x="0" y="0"/>
            <a:chExt cx="4480560" cy="6025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480560" cy="602548"/>
            </a:xfrm>
            <a:custGeom>
              <a:avLst/>
              <a:gdLst/>
              <a:ahLst/>
              <a:cxnLst/>
              <a:rect r="r" b="b" t="t" l="l"/>
              <a:pathLst>
                <a:path h="60254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02548"/>
                  </a:lnTo>
                  <a:lnTo>
                    <a:pt x="0" y="6025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46" r="0" b="-919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480560" cy="612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CNN - Densa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661136" y="4500417"/>
            <a:ext cx="3291840" cy="2641164"/>
            <a:chOff x="0" y="0"/>
            <a:chExt cx="4389120" cy="35215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389120" cy="3521552"/>
            </a:xfrm>
            <a:custGeom>
              <a:avLst/>
              <a:gdLst/>
              <a:ahLst/>
              <a:cxnLst/>
              <a:rect r="r" b="b" t="t" l="l"/>
              <a:pathLst>
                <a:path h="35215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521552"/>
                  </a:lnTo>
                  <a:lnTo>
                    <a:pt x="0" y="3521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74" r="0" b="6870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389120" cy="3521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Parâmetros: 55.941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 </a:t>
              </a:r>
              <a:r>
                <a:rPr lang="en-US" b="true" sz="1875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Keras/FP32 accuracy: 84,39%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b="true" sz="1875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Keras/FP32 macro-F1: 0,8425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b="true" sz="1875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INT8 accuracy: 84,77%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b="true" sz="1875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 INT8 macro-F1: 0,8464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b="true" sz="1875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 Tamanho FP32: 228,32 KB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b="true" sz="1875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 Tamanho INT8: 75,98 KB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4695600">
            <a:off x="16036719" y="5648325"/>
            <a:ext cx="159163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074039" y="8247507"/>
            <a:ext cx="16203930" cy="691134"/>
            <a:chOff x="0" y="0"/>
            <a:chExt cx="21605240" cy="9215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605239" cy="921512"/>
            </a:xfrm>
            <a:custGeom>
              <a:avLst/>
              <a:gdLst/>
              <a:ahLst/>
              <a:cxnLst/>
              <a:rect r="r" b="b" t="t" l="l"/>
              <a:pathLst>
                <a:path h="921512" w="21605239">
                  <a:moveTo>
                    <a:pt x="0" y="169291"/>
                  </a:moveTo>
                  <a:cubicBezTo>
                    <a:pt x="0" y="75819"/>
                    <a:pt x="75819" y="0"/>
                    <a:pt x="169291" y="0"/>
                  </a:cubicBezTo>
                  <a:lnTo>
                    <a:pt x="21435949" y="0"/>
                  </a:lnTo>
                  <a:cubicBezTo>
                    <a:pt x="21529421" y="0"/>
                    <a:pt x="21605239" y="75819"/>
                    <a:pt x="21605239" y="169291"/>
                  </a:cubicBezTo>
                  <a:lnTo>
                    <a:pt x="21605239" y="752221"/>
                  </a:lnTo>
                  <a:cubicBezTo>
                    <a:pt x="21605239" y="845693"/>
                    <a:pt x="21529421" y="921512"/>
                    <a:pt x="21435949" y="921512"/>
                  </a:cubicBezTo>
                  <a:lnTo>
                    <a:pt x="169291" y="921512"/>
                  </a:lnTo>
                  <a:cubicBezTo>
                    <a:pt x="75819" y="921512"/>
                    <a:pt x="0" y="845693"/>
                    <a:pt x="0" y="752221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67612" y="8407908"/>
            <a:ext cx="15485364" cy="370332"/>
            <a:chOff x="0" y="0"/>
            <a:chExt cx="20647152" cy="49377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647152" cy="493776"/>
            </a:xfrm>
            <a:custGeom>
              <a:avLst/>
              <a:gdLst/>
              <a:ahLst/>
              <a:cxnLst/>
              <a:rect r="r" b="b" t="t" l="l"/>
              <a:pathLst>
                <a:path h="493776" w="20647152">
                  <a:moveTo>
                    <a:pt x="0" y="0"/>
                  </a:moveTo>
                  <a:lnTo>
                    <a:pt x="20647152" y="0"/>
                  </a:lnTo>
                  <a:lnTo>
                    <a:pt x="20647152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4763" r="0" b="-76476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20647152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15313A"/>
                  </a:solidFill>
                  <a:latin typeface="Aptos"/>
                  <a:ea typeface="Aptos"/>
                  <a:cs typeface="Aptos"/>
                  <a:sym typeface="Aptos"/>
                </a:rPr>
                <a:t>Treinamento: Adam + Early Stopping   ·   Saída: probabilidade para cada atividade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01268" y="1673352"/>
            <a:ext cx="16116300" cy="987552"/>
            <a:chOff x="0" y="0"/>
            <a:chExt cx="21488400" cy="13167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4884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984" r="0" b="-26798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148840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MLP | CNN 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99972" y="4514814"/>
            <a:ext cx="3291840" cy="2641164"/>
            <a:chOff x="0" y="0"/>
            <a:chExt cx="4389120" cy="35215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89120" cy="3521552"/>
            </a:xfrm>
            <a:custGeom>
              <a:avLst/>
              <a:gdLst/>
              <a:ahLst/>
              <a:cxnLst/>
              <a:rect r="r" b="b" t="t" l="l"/>
              <a:pathLst>
                <a:path h="35215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521552"/>
                  </a:lnTo>
                  <a:lnTo>
                    <a:pt x="0" y="3521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74" r="0" b="6870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389120" cy="3521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Parâmetros: 40.709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Keras/FP32 accuracy: 76,93%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Keras/FP32 macro-F1: 0,7671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 INT8 accuracy: 76,77%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 INT8 macro-F1: 0,7648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Tamanho FP32: 162,89 KB</a:t>
              </a:r>
            </a:p>
            <a:p>
              <a:pPr algn="l" marL="404812" indent="-202406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 Tamanho INT8: 46,73 KB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773400" y="9806940"/>
            <a:ext cx="1508760" cy="262305"/>
            <a:chOff x="0" y="0"/>
            <a:chExt cx="2011680" cy="3497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11680" cy="349740"/>
            </a:xfrm>
            <a:custGeom>
              <a:avLst/>
              <a:gdLst/>
              <a:ahLst/>
              <a:cxnLst/>
              <a:rect r="r" b="b" t="t" l="l"/>
              <a:pathLst>
                <a:path h="3497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49740"/>
                  </a:lnTo>
                  <a:lnTo>
                    <a:pt x="0" y="349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244" r="0" b="-5390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2011680" cy="349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 b="true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09  / 14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7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552" y="384048"/>
            <a:ext cx="7818120" cy="274320"/>
            <a:chOff x="0" y="0"/>
            <a:chExt cx="1042416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424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22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EMBARCADA  /  PROJETO FINAL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0" y="384048"/>
            <a:ext cx="4389120" cy="274320"/>
            <a:chOff x="0" y="0"/>
            <a:chExt cx="585216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55"/>
                </a:lnSpc>
              </a:pPr>
              <a:r>
                <a:rPr lang="en-US" b="true" sz="1380" spc="16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  ·  GALAXY WATCH6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020">
            <a:off x="978017" y="859345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020">
            <a:off x="978017" y="9719882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1268" y="9820656"/>
            <a:ext cx="10012680" cy="205740"/>
            <a:chOff x="0" y="0"/>
            <a:chExt cx="1335024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0239" cy="274320"/>
            </a:xfrm>
            <a:custGeom>
              <a:avLst/>
              <a:gdLst/>
              <a:ahLst/>
              <a:cxnLst/>
              <a:rect r="r" b="b" t="t" l="l"/>
              <a:pathLst>
                <a:path h="27432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71" r="0" b="-89827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350240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spc="21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MODELO DE IA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2228" y="1010518"/>
            <a:ext cx="11658600" cy="530733"/>
            <a:chOff x="0" y="0"/>
            <a:chExt cx="15544800" cy="7076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0" cy="707644"/>
            </a:xfrm>
            <a:custGeom>
              <a:avLst/>
              <a:gdLst/>
              <a:ahLst/>
              <a:cxnLst/>
              <a:rect r="r" b="b" t="t" l="l"/>
              <a:pathLst>
                <a:path h="70764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707644"/>
                  </a:lnTo>
                  <a:lnTo>
                    <a:pt x="0" y="7076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5723" r="0" b="-36033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5544800" cy="707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ARQUITETURA SELECIONADA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1268" y="1673352"/>
            <a:ext cx="16116300" cy="987552"/>
            <a:chOff x="0" y="0"/>
            <a:chExt cx="21488400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4884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984" r="0" b="-2679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48840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CNN 1D compacta:  melhor equilíbrio para o embarque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6132" y="2715768"/>
            <a:ext cx="16047720" cy="589788"/>
            <a:chOff x="0" y="0"/>
            <a:chExt cx="21396960" cy="7863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96961" cy="786384"/>
            </a:xfrm>
            <a:custGeom>
              <a:avLst/>
              <a:gdLst/>
              <a:ahLst/>
              <a:cxnLst/>
              <a:rect r="r" b="b" t="t" l="l"/>
              <a:pathLst>
                <a:path h="786384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74" r="0" b="-48017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3969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Convoluções identificam padrões que se repetem ao longo dos sinais dos sensores.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60323" y="3707511"/>
            <a:ext cx="3804666" cy="1774698"/>
            <a:chOff x="0" y="0"/>
            <a:chExt cx="5072888" cy="23662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72888" cy="2366264"/>
            </a:xfrm>
            <a:custGeom>
              <a:avLst/>
              <a:gdLst/>
              <a:ahLst/>
              <a:cxnLst/>
              <a:rect r="r" b="b" t="t" l="l"/>
              <a:pathLst>
                <a:path h="2366264" w="5072888">
                  <a:moveTo>
                    <a:pt x="0" y="258826"/>
                  </a:moveTo>
                  <a:cubicBezTo>
                    <a:pt x="0" y="115824"/>
                    <a:pt x="115824" y="0"/>
                    <a:pt x="258826" y="0"/>
                  </a:cubicBezTo>
                  <a:lnTo>
                    <a:pt x="4814062" y="0"/>
                  </a:lnTo>
                  <a:cubicBezTo>
                    <a:pt x="4957064" y="0"/>
                    <a:pt x="5072888" y="115824"/>
                    <a:pt x="5072888" y="258826"/>
                  </a:cubicBezTo>
                  <a:lnTo>
                    <a:pt x="5072888" y="2107438"/>
                  </a:lnTo>
                  <a:cubicBezTo>
                    <a:pt x="5072888" y="2250440"/>
                    <a:pt x="4957064" y="2366264"/>
                    <a:pt x="4814062" y="2366264"/>
                  </a:cubicBezTo>
                  <a:lnTo>
                    <a:pt x="258826" y="2366264"/>
                  </a:lnTo>
                  <a:cubicBezTo>
                    <a:pt x="115824" y="2366264"/>
                    <a:pt x="0" y="2250440"/>
                    <a:pt x="0" y="2107438"/>
                  </a:cubicBezTo>
                  <a:close/>
                </a:path>
              </a:pathLst>
            </a:custGeom>
            <a:solidFill>
              <a:srgbClr val="102C3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03020" y="3991356"/>
            <a:ext cx="3360420" cy="425196"/>
            <a:chOff x="0" y="0"/>
            <a:chExt cx="4480560" cy="5669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80560" cy="566928"/>
            </a:xfrm>
            <a:custGeom>
              <a:avLst/>
              <a:gdLst/>
              <a:ahLst/>
              <a:cxnLst/>
              <a:rect r="r" b="b" t="t" l="l"/>
              <a:pathLst>
                <a:path h="56692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994" r="0" b="-10399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480560" cy="576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Entrada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03020" y="4732020"/>
            <a:ext cx="3291840" cy="370332"/>
            <a:chOff x="0" y="0"/>
            <a:chExt cx="4389120" cy="4937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9120" cy="493776"/>
            </a:xfrm>
            <a:custGeom>
              <a:avLst/>
              <a:gdLst/>
              <a:ahLst/>
              <a:cxnLst/>
              <a:rect r="r" b="b" t="t" l="l"/>
              <a:pathLst>
                <a:path h="49377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38912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100 × 6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360180">
            <a:off x="4860846" y="4585335"/>
            <a:ext cx="400726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5092827" y="4434459"/>
            <a:ext cx="334518" cy="320802"/>
            <a:chOff x="0" y="0"/>
            <a:chExt cx="446024" cy="4277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46024" cy="427736"/>
            </a:xfrm>
            <a:custGeom>
              <a:avLst/>
              <a:gdLst/>
              <a:ahLst/>
              <a:cxnLst/>
              <a:rect r="r" b="b" t="t" l="l"/>
              <a:pathLst>
                <a:path h="427736" w="446024">
                  <a:moveTo>
                    <a:pt x="0" y="0"/>
                  </a:moveTo>
                  <a:lnTo>
                    <a:pt x="232156" y="0"/>
                  </a:lnTo>
                  <a:lnTo>
                    <a:pt x="446024" y="213868"/>
                  </a:lnTo>
                  <a:lnTo>
                    <a:pt x="232156" y="427736"/>
                  </a:lnTo>
                  <a:lnTo>
                    <a:pt x="0" y="427736"/>
                  </a:lnTo>
                  <a:lnTo>
                    <a:pt x="213868" y="213868"/>
                  </a:ln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229987" y="3707511"/>
            <a:ext cx="3804666" cy="1774698"/>
            <a:chOff x="0" y="0"/>
            <a:chExt cx="5072888" cy="23662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72888" cy="2366264"/>
            </a:xfrm>
            <a:custGeom>
              <a:avLst/>
              <a:gdLst/>
              <a:ahLst/>
              <a:cxnLst/>
              <a:rect r="r" b="b" t="t" l="l"/>
              <a:pathLst>
                <a:path h="2366264" w="5072888">
                  <a:moveTo>
                    <a:pt x="0" y="258826"/>
                  </a:moveTo>
                  <a:cubicBezTo>
                    <a:pt x="0" y="115824"/>
                    <a:pt x="115824" y="0"/>
                    <a:pt x="258826" y="0"/>
                  </a:cubicBezTo>
                  <a:lnTo>
                    <a:pt x="4814062" y="0"/>
                  </a:lnTo>
                  <a:cubicBezTo>
                    <a:pt x="4957064" y="0"/>
                    <a:pt x="5072888" y="115824"/>
                    <a:pt x="5072888" y="258826"/>
                  </a:cubicBezTo>
                  <a:lnTo>
                    <a:pt x="5072888" y="2107438"/>
                  </a:lnTo>
                  <a:cubicBezTo>
                    <a:pt x="5072888" y="2250440"/>
                    <a:pt x="4957064" y="2366264"/>
                    <a:pt x="4814062" y="2366264"/>
                  </a:cubicBezTo>
                  <a:lnTo>
                    <a:pt x="258826" y="2366264"/>
                  </a:lnTo>
                  <a:cubicBezTo>
                    <a:pt x="115824" y="2366264"/>
                    <a:pt x="0" y="2250440"/>
                    <a:pt x="0" y="2107438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472684" y="3991356"/>
            <a:ext cx="3360420" cy="425196"/>
            <a:chOff x="0" y="0"/>
            <a:chExt cx="4480560" cy="5669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80560" cy="566928"/>
            </a:xfrm>
            <a:custGeom>
              <a:avLst/>
              <a:gdLst/>
              <a:ahLst/>
              <a:cxnLst/>
              <a:rect r="r" b="b" t="t" l="l"/>
              <a:pathLst>
                <a:path h="56692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994" r="0" b="-10399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480560" cy="576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Normalização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360180">
            <a:off x="9030510" y="4585335"/>
            <a:ext cx="400726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9262491" y="4434459"/>
            <a:ext cx="334518" cy="320802"/>
            <a:chOff x="0" y="0"/>
            <a:chExt cx="446024" cy="4277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6024" cy="427736"/>
            </a:xfrm>
            <a:custGeom>
              <a:avLst/>
              <a:gdLst/>
              <a:ahLst/>
              <a:cxnLst/>
              <a:rect r="r" b="b" t="t" l="l"/>
              <a:pathLst>
                <a:path h="427736" w="446024">
                  <a:moveTo>
                    <a:pt x="0" y="0"/>
                  </a:moveTo>
                  <a:lnTo>
                    <a:pt x="232156" y="0"/>
                  </a:lnTo>
                  <a:lnTo>
                    <a:pt x="446024" y="213868"/>
                  </a:lnTo>
                  <a:lnTo>
                    <a:pt x="232156" y="427736"/>
                  </a:lnTo>
                  <a:lnTo>
                    <a:pt x="0" y="427736"/>
                  </a:lnTo>
                  <a:lnTo>
                    <a:pt x="213868" y="213868"/>
                  </a:ln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401556" y="3709416"/>
            <a:ext cx="3800856" cy="1770888"/>
            <a:chOff x="0" y="0"/>
            <a:chExt cx="5067808" cy="23611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067808" cy="2361184"/>
            </a:xfrm>
            <a:custGeom>
              <a:avLst/>
              <a:gdLst/>
              <a:ahLst/>
              <a:cxnLst/>
              <a:rect r="r" b="b" t="t" l="l"/>
              <a:pathLst>
                <a:path h="2361184" w="5067808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4809490" y="0"/>
                  </a:lnTo>
                  <a:cubicBezTo>
                    <a:pt x="4952111" y="0"/>
                    <a:pt x="5067808" y="115570"/>
                    <a:pt x="5067808" y="258318"/>
                  </a:cubicBezTo>
                  <a:lnTo>
                    <a:pt x="5067808" y="2102866"/>
                  </a:lnTo>
                  <a:cubicBezTo>
                    <a:pt x="5067808" y="2245487"/>
                    <a:pt x="4952238" y="2361184"/>
                    <a:pt x="4809490" y="2361184"/>
                  </a:cubicBezTo>
                  <a:lnTo>
                    <a:pt x="258318" y="2361184"/>
                  </a:lnTo>
                  <a:cubicBezTo>
                    <a:pt x="115570" y="2361184"/>
                    <a:pt x="0" y="2245614"/>
                    <a:pt x="0" y="210286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642348" y="3991356"/>
            <a:ext cx="3360420" cy="425196"/>
            <a:chOff x="0" y="0"/>
            <a:chExt cx="4480560" cy="5669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80560" cy="566928"/>
            </a:xfrm>
            <a:custGeom>
              <a:avLst/>
              <a:gdLst/>
              <a:ahLst/>
              <a:cxnLst/>
              <a:rect r="r" b="b" t="t" l="l"/>
              <a:pathLst>
                <a:path h="56692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994" r="0" b="-10399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480560" cy="576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Conv1D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42348" y="4732020"/>
            <a:ext cx="3291840" cy="370332"/>
            <a:chOff x="0" y="0"/>
            <a:chExt cx="4389120" cy="4937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89120" cy="493776"/>
            </a:xfrm>
            <a:custGeom>
              <a:avLst/>
              <a:gdLst/>
              <a:ahLst/>
              <a:cxnLst/>
              <a:rect r="r" b="b" t="t" l="l"/>
              <a:pathLst>
                <a:path h="49377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38912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16 filtros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360180">
            <a:off x="13200174" y="4585335"/>
            <a:ext cx="400726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3432155" y="4434459"/>
            <a:ext cx="334518" cy="320802"/>
            <a:chOff x="0" y="0"/>
            <a:chExt cx="446024" cy="4277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46024" cy="427736"/>
            </a:xfrm>
            <a:custGeom>
              <a:avLst/>
              <a:gdLst/>
              <a:ahLst/>
              <a:cxnLst/>
              <a:rect r="r" b="b" t="t" l="l"/>
              <a:pathLst>
                <a:path h="427736" w="446024">
                  <a:moveTo>
                    <a:pt x="0" y="0"/>
                  </a:moveTo>
                  <a:lnTo>
                    <a:pt x="232156" y="0"/>
                  </a:lnTo>
                  <a:lnTo>
                    <a:pt x="446024" y="213868"/>
                  </a:lnTo>
                  <a:lnTo>
                    <a:pt x="232156" y="427736"/>
                  </a:lnTo>
                  <a:lnTo>
                    <a:pt x="0" y="427736"/>
                  </a:lnTo>
                  <a:lnTo>
                    <a:pt x="213868" y="213868"/>
                  </a:ln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571220" y="3709416"/>
            <a:ext cx="3800856" cy="1770888"/>
            <a:chOff x="0" y="0"/>
            <a:chExt cx="5067808" cy="23611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67808" cy="2361184"/>
            </a:xfrm>
            <a:custGeom>
              <a:avLst/>
              <a:gdLst/>
              <a:ahLst/>
              <a:cxnLst/>
              <a:rect r="r" b="b" t="t" l="l"/>
              <a:pathLst>
                <a:path h="2361184" w="5067808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4809490" y="0"/>
                  </a:lnTo>
                  <a:cubicBezTo>
                    <a:pt x="4952111" y="0"/>
                    <a:pt x="5067808" y="115570"/>
                    <a:pt x="5067808" y="258318"/>
                  </a:cubicBezTo>
                  <a:lnTo>
                    <a:pt x="5067808" y="2102866"/>
                  </a:lnTo>
                  <a:cubicBezTo>
                    <a:pt x="5067808" y="2245487"/>
                    <a:pt x="4952238" y="2361184"/>
                    <a:pt x="4809490" y="2361184"/>
                  </a:cubicBezTo>
                  <a:lnTo>
                    <a:pt x="258318" y="2361184"/>
                  </a:lnTo>
                  <a:cubicBezTo>
                    <a:pt x="115570" y="2361184"/>
                    <a:pt x="0" y="2245614"/>
                    <a:pt x="0" y="210286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812012" y="3991356"/>
            <a:ext cx="3360420" cy="425196"/>
            <a:chOff x="0" y="0"/>
            <a:chExt cx="4480560" cy="5669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480560" cy="566928"/>
            </a:xfrm>
            <a:custGeom>
              <a:avLst/>
              <a:gdLst/>
              <a:ahLst/>
              <a:cxnLst/>
              <a:rect r="r" b="b" t="t" l="l"/>
              <a:pathLst>
                <a:path h="56692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994" r="0" b="-10399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4480560" cy="576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MaxPooling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812012" y="4732020"/>
            <a:ext cx="3291840" cy="370332"/>
            <a:chOff x="0" y="0"/>
            <a:chExt cx="4389120" cy="49377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89120" cy="493776"/>
            </a:xfrm>
            <a:custGeom>
              <a:avLst/>
              <a:gdLst/>
              <a:ahLst/>
              <a:cxnLst/>
              <a:rect r="r" b="b" t="t" l="l"/>
              <a:pathLst>
                <a:path h="49377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38912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redução temporal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62228" y="5835396"/>
            <a:ext cx="3800856" cy="1770888"/>
            <a:chOff x="0" y="0"/>
            <a:chExt cx="5067808" cy="23611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067808" cy="2361184"/>
            </a:xfrm>
            <a:custGeom>
              <a:avLst/>
              <a:gdLst/>
              <a:ahLst/>
              <a:cxnLst/>
              <a:rect r="r" b="b" t="t" l="l"/>
              <a:pathLst>
                <a:path h="2361184" w="5067808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4809490" y="0"/>
                  </a:lnTo>
                  <a:cubicBezTo>
                    <a:pt x="4952111" y="0"/>
                    <a:pt x="5067808" y="115570"/>
                    <a:pt x="5067808" y="258318"/>
                  </a:cubicBezTo>
                  <a:lnTo>
                    <a:pt x="5067808" y="2102866"/>
                  </a:lnTo>
                  <a:cubicBezTo>
                    <a:pt x="5067808" y="2245487"/>
                    <a:pt x="4952238" y="2361184"/>
                    <a:pt x="4809490" y="2361184"/>
                  </a:cubicBezTo>
                  <a:lnTo>
                    <a:pt x="258318" y="2361184"/>
                  </a:lnTo>
                  <a:cubicBezTo>
                    <a:pt x="115570" y="2361184"/>
                    <a:pt x="0" y="2245614"/>
                    <a:pt x="0" y="210286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303020" y="6117336"/>
            <a:ext cx="3360420" cy="425196"/>
            <a:chOff x="0" y="0"/>
            <a:chExt cx="4480560" cy="56692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480560" cy="566928"/>
            </a:xfrm>
            <a:custGeom>
              <a:avLst/>
              <a:gdLst/>
              <a:ahLst/>
              <a:cxnLst/>
              <a:rect r="r" b="b" t="t" l="l"/>
              <a:pathLst>
                <a:path h="56692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994" r="0" b="-10399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4480560" cy="576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Conv1D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03020" y="6858000"/>
            <a:ext cx="3291840" cy="370332"/>
            <a:chOff x="0" y="0"/>
            <a:chExt cx="4389120" cy="49377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389120" cy="493776"/>
            </a:xfrm>
            <a:custGeom>
              <a:avLst/>
              <a:gdLst/>
              <a:ahLst/>
              <a:cxnLst/>
              <a:rect r="r" b="b" t="t" l="l"/>
              <a:pathLst>
                <a:path h="49377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438912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24 filtros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 rot="360180">
            <a:off x="4860846" y="6711315"/>
            <a:ext cx="400726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5092827" y="6560439"/>
            <a:ext cx="334518" cy="320802"/>
            <a:chOff x="0" y="0"/>
            <a:chExt cx="446024" cy="4277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6024" cy="427736"/>
            </a:xfrm>
            <a:custGeom>
              <a:avLst/>
              <a:gdLst/>
              <a:ahLst/>
              <a:cxnLst/>
              <a:rect r="r" b="b" t="t" l="l"/>
              <a:pathLst>
                <a:path h="427736" w="446024">
                  <a:moveTo>
                    <a:pt x="0" y="0"/>
                  </a:moveTo>
                  <a:lnTo>
                    <a:pt x="232156" y="0"/>
                  </a:lnTo>
                  <a:lnTo>
                    <a:pt x="446024" y="213868"/>
                  </a:lnTo>
                  <a:lnTo>
                    <a:pt x="232156" y="427736"/>
                  </a:lnTo>
                  <a:lnTo>
                    <a:pt x="0" y="427736"/>
                  </a:lnTo>
                  <a:lnTo>
                    <a:pt x="213868" y="213868"/>
                  </a:ln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229987" y="5833491"/>
            <a:ext cx="3804666" cy="1774698"/>
            <a:chOff x="0" y="0"/>
            <a:chExt cx="5072888" cy="236626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072888" cy="2366264"/>
            </a:xfrm>
            <a:custGeom>
              <a:avLst/>
              <a:gdLst/>
              <a:ahLst/>
              <a:cxnLst/>
              <a:rect r="r" b="b" t="t" l="l"/>
              <a:pathLst>
                <a:path h="2366264" w="5072888">
                  <a:moveTo>
                    <a:pt x="0" y="258826"/>
                  </a:moveTo>
                  <a:cubicBezTo>
                    <a:pt x="0" y="115824"/>
                    <a:pt x="115824" y="0"/>
                    <a:pt x="258826" y="0"/>
                  </a:cubicBezTo>
                  <a:lnTo>
                    <a:pt x="4814062" y="0"/>
                  </a:lnTo>
                  <a:cubicBezTo>
                    <a:pt x="4957064" y="0"/>
                    <a:pt x="5072888" y="115824"/>
                    <a:pt x="5072888" y="258826"/>
                  </a:cubicBezTo>
                  <a:lnTo>
                    <a:pt x="5072888" y="2107438"/>
                  </a:lnTo>
                  <a:cubicBezTo>
                    <a:pt x="5072888" y="2250440"/>
                    <a:pt x="4957064" y="2366264"/>
                    <a:pt x="4814062" y="2366264"/>
                  </a:cubicBezTo>
                  <a:lnTo>
                    <a:pt x="258826" y="2366264"/>
                  </a:lnTo>
                  <a:cubicBezTo>
                    <a:pt x="115824" y="2366264"/>
                    <a:pt x="0" y="2250440"/>
                    <a:pt x="0" y="2107438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5492480" y="4635540"/>
            <a:ext cx="3142520" cy="517677"/>
            <a:chOff x="0" y="0"/>
            <a:chExt cx="4480560" cy="73809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480560" cy="738097"/>
            </a:xfrm>
            <a:custGeom>
              <a:avLst/>
              <a:gdLst/>
              <a:ahLst/>
              <a:cxnLst/>
              <a:rect r="r" b="b" t="t" l="l"/>
              <a:pathLst>
                <a:path h="738097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8097"/>
                  </a:lnTo>
                  <a:lnTo>
                    <a:pt x="0" y="7380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877" r="0" b="-5668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4480560" cy="7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250"/>
                </a:lnSpc>
                <a:spcBef>
                  <a:spcPct val="0"/>
                </a:spcBef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Ajuste da escala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472684" y="6858000"/>
            <a:ext cx="3291840" cy="370332"/>
            <a:chOff x="0" y="0"/>
            <a:chExt cx="4389120" cy="49377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389120" cy="493776"/>
            </a:xfrm>
            <a:custGeom>
              <a:avLst/>
              <a:gdLst/>
              <a:ahLst/>
              <a:cxnLst/>
              <a:rect r="r" b="b" t="t" l="l"/>
              <a:pathLst>
                <a:path h="49377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438912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resumo do sinal</a:t>
              </a:r>
            </a:p>
          </p:txBody>
        </p:sp>
      </p:grpSp>
      <p:sp>
        <p:nvSpPr>
          <p:cNvPr name="AutoShape 81" id="81"/>
          <p:cNvSpPr/>
          <p:nvPr/>
        </p:nvSpPr>
        <p:spPr>
          <a:xfrm rot="360180">
            <a:off x="9030510" y="6711315"/>
            <a:ext cx="400726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2" id="82"/>
          <p:cNvGrpSpPr/>
          <p:nvPr/>
        </p:nvGrpSpPr>
        <p:grpSpPr>
          <a:xfrm rot="0">
            <a:off x="9262491" y="6560439"/>
            <a:ext cx="334518" cy="320802"/>
            <a:chOff x="0" y="0"/>
            <a:chExt cx="446024" cy="42773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46024" cy="427736"/>
            </a:xfrm>
            <a:custGeom>
              <a:avLst/>
              <a:gdLst/>
              <a:ahLst/>
              <a:cxnLst/>
              <a:rect r="r" b="b" t="t" l="l"/>
              <a:pathLst>
                <a:path h="427736" w="446024">
                  <a:moveTo>
                    <a:pt x="0" y="0"/>
                  </a:moveTo>
                  <a:lnTo>
                    <a:pt x="232156" y="0"/>
                  </a:lnTo>
                  <a:lnTo>
                    <a:pt x="446024" y="213868"/>
                  </a:lnTo>
                  <a:lnTo>
                    <a:pt x="232156" y="427736"/>
                  </a:lnTo>
                  <a:lnTo>
                    <a:pt x="0" y="427736"/>
                  </a:lnTo>
                  <a:lnTo>
                    <a:pt x="213868" y="213868"/>
                  </a:ln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401556" y="5835396"/>
            <a:ext cx="3800856" cy="1770888"/>
            <a:chOff x="0" y="0"/>
            <a:chExt cx="5067808" cy="236118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067808" cy="2361184"/>
            </a:xfrm>
            <a:custGeom>
              <a:avLst/>
              <a:gdLst/>
              <a:ahLst/>
              <a:cxnLst/>
              <a:rect r="r" b="b" t="t" l="l"/>
              <a:pathLst>
                <a:path h="2361184" w="5067808">
                  <a:moveTo>
                    <a:pt x="0" y="258318"/>
                  </a:moveTo>
                  <a:cubicBezTo>
                    <a:pt x="0" y="115570"/>
                    <a:pt x="115570" y="0"/>
                    <a:pt x="258318" y="0"/>
                  </a:cubicBezTo>
                  <a:lnTo>
                    <a:pt x="4809490" y="0"/>
                  </a:lnTo>
                  <a:cubicBezTo>
                    <a:pt x="4952111" y="0"/>
                    <a:pt x="5067808" y="115570"/>
                    <a:pt x="5067808" y="258318"/>
                  </a:cubicBezTo>
                  <a:lnTo>
                    <a:pt x="5067808" y="2102866"/>
                  </a:lnTo>
                  <a:cubicBezTo>
                    <a:pt x="5067808" y="2245487"/>
                    <a:pt x="4952238" y="2361184"/>
                    <a:pt x="4809490" y="2361184"/>
                  </a:cubicBezTo>
                  <a:lnTo>
                    <a:pt x="258318" y="2361184"/>
                  </a:lnTo>
                  <a:cubicBezTo>
                    <a:pt x="115570" y="2361184"/>
                    <a:pt x="0" y="2245614"/>
                    <a:pt x="0" y="210286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9642348" y="6117336"/>
            <a:ext cx="3360420" cy="425196"/>
            <a:chOff x="0" y="0"/>
            <a:chExt cx="4480560" cy="56692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480560" cy="566928"/>
            </a:xfrm>
            <a:custGeom>
              <a:avLst/>
              <a:gdLst/>
              <a:ahLst/>
              <a:cxnLst/>
              <a:rect r="r" b="b" t="t" l="l"/>
              <a:pathLst>
                <a:path h="56692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994" r="0" b="-10399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4480560" cy="576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Dense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642348" y="6858000"/>
            <a:ext cx="3291840" cy="370332"/>
            <a:chOff x="0" y="0"/>
            <a:chExt cx="4389120" cy="49377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389120" cy="493776"/>
            </a:xfrm>
            <a:custGeom>
              <a:avLst/>
              <a:gdLst/>
              <a:ahLst/>
              <a:cxnLst/>
              <a:rect r="r" b="b" t="t" l="l"/>
              <a:pathLst>
                <a:path h="49377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438912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16 neurônios</a:t>
              </a:r>
            </a:p>
          </p:txBody>
        </p:sp>
      </p:grpSp>
      <p:sp>
        <p:nvSpPr>
          <p:cNvPr name="AutoShape 92" id="92"/>
          <p:cNvSpPr/>
          <p:nvPr/>
        </p:nvSpPr>
        <p:spPr>
          <a:xfrm rot="360180">
            <a:off x="13200174" y="6711315"/>
            <a:ext cx="400726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3" id="93"/>
          <p:cNvGrpSpPr/>
          <p:nvPr/>
        </p:nvGrpSpPr>
        <p:grpSpPr>
          <a:xfrm rot="0">
            <a:off x="13432155" y="6560439"/>
            <a:ext cx="334518" cy="320802"/>
            <a:chOff x="0" y="0"/>
            <a:chExt cx="446024" cy="42773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46024" cy="427736"/>
            </a:xfrm>
            <a:custGeom>
              <a:avLst/>
              <a:gdLst/>
              <a:ahLst/>
              <a:cxnLst/>
              <a:rect r="r" b="b" t="t" l="l"/>
              <a:pathLst>
                <a:path h="427736" w="446024">
                  <a:moveTo>
                    <a:pt x="0" y="0"/>
                  </a:moveTo>
                  <a:lnTo>
                    <a:pt x="232156" y="0"/>
                  </a:lnTo>
                  <a:lnTo>
                    <a:pt x="446024" y="213868"/>
                  </a:lnTo>
                  <a:lnTo>
                    <a:pt x="232156" y="427736"/>
                  </a:lnTo>
                  <a:lnTo>
                    <a:pt x="0" y="427736"/>
                  </a:lnTo>
                  <a:lnTo>
                    <a:pt x="213868" y="213868"/>
                  </a:ln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569315" y="5833491"/>
            <a:ext cx="3804666" cy="1774698"/>
            <a:chOff x="0" y="0"/>
            <a:chExt cx="5072888" cy="236626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072888" cy="2366264"/>
            </a:xfrm>
            <a:custGeom>
              <a:avLst/>
              <a:gdLst/>
              <a:ahLst/>
              <a:cxnLst/>
              <a:rect r="r" b="b" t="t" l="l"/>
              <a:pathLst>
                <a:path h="2366264" w="5072888">
                  <a:moveTo>
                    <a:pt x="0" y="258826"/>
                  </a:moveTo>
                  <a:cubicBezTo>
                    <a:pt x="0" y="115824"/>
                    <a:pt x="115824" y="0"/>
                    <a:pt x="258826" y="0"/>
                  </a:cubicBezTo>
                  <a:lnTo>
                    <a:pt x="4814062" y="0"/>
                  </a:lnTo>
                  <a:cubicBezTo>
                    <a:pt x="4957064" y="0"/>
                    <a:pt x="5072888" y="115824"/>
                    <a:pt x="5072888" y="258826"/>
                  </a:cubicBezTo>
                  <a:lnTo>
                    <a:pt x="5072888" y="2107438"/>
                  </a:lnTo>
                  <a:cubicBezTo>
                    <a:pt x="5072888" y="2250440"/>
                    <a:pt x="4957064" y="2366264"/>
                    <a:pt x="4814062" y="2366264"/>
                  </a:cubicBezTo>
                  <a:lnTo>
                    <a:pt x="258826" y="2366264"/>
                  </a:lnTo>
                  <a:cubicBezTo>
                    <a:pt x="115824" y="2366264"/>
                    <a:pt x="0" y="2250440"/>
                    <a:pt x="0" y="2107438"/>
                  </a:cubicBezTo>
                  <a:close/>
                </a:path>
              </a:pathLst>
            </a:custGeom>
            <a:solidFill>
              <a:srgbClr val="102C35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812012" y="6117336"/>
            <a:ext cx="3360420" cy="425196"/>
            <a:chOff x="0" y="0"/>
            <a:chExt cx="4480560" cy="56692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480560" cy="566928"/>
            </a:xfrm>
            <a:custGeom>
              <a:avLst/>
              <a:gdLst/>
              <a:ahLst/>
              <a:cxnLst/>
              <a:rect r="r" b="b" t="t" l="l"/>
              <a:pathLst>
                <a:path h="56692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994" r="0" b="-10399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4480560" cy="5764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Softmax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3812012" y="6858000"/>
            <a:ext cx="3291840" cy="370332"/>
            <a:chOff x="0" y="0"/>
            <a:chExt cx="4389120" cy="49377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389120" cy="493776"/>
            </a:xfrm>
            <a:custGeom>
              <a:avLst/>
              <a:gdLst/>
              <a:ahLst/>
              <a:cxnLst/>
              <a:rect r="r" b="b" t="t" l="l"/>
              <a:pathLst>
                <a:path h="49377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438912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5 classes</a:t>
              </a:r>
            </a:p>
          </p:txBody>
        </p:sp>
      </p:grpSp>
      <p:sp>
        <p:nvSpPr>
          <p:cNvPr name="AutoShape 103" id="103"/>
          <p:cNvSpPr/>
          <p:nvPr/>
        </p:nvSpPr>
        <p:spPr>
          <a:xfrm rot="4695600">
            <a:off x="16036719" y="5648325"/>
            <a:ext cx="159163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4" id="104"/>
          <p:cNvGrpSpPr/>
          <p:nvPr/>
        </p:nvGrpSpPr>
        <p:grpSpPr>
          <a:xfrm rot="0">
            <a:off x="1074039" y="8247507"/>
            <a:ext cx="16203930" cy="691134"/>
            <a:chOff x="0" y="0"/>
            <a:chExt cx="21605240" cy="92151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1605239" cy="921512"/>
            </a:xfrm>
            <a:custGeom>
              <a:avLst/>
              <a:gdLst/>
              <a:ahLst/>
              <a:cxnLst/>
              <a:rect r="r" b="b" t="t" l="l"/>
              <a:pathLst>
                <a:path h="921512" w="21605239">
                  <a:moveTo>
                    <a:pt x="0" y="169291"/>
                  </a:moveTo>
                  <a:cubicBezTo>
                    <a:pt x="0" y="75819"/>
                    <a:pt x="75819" y="0"/>
                    <a:pt x="169291" y="0"/>
                  </a:cubicBezTo>
                  <a:lnTo>
                    <a:pt x="21435949" y="0"/>
                  </a:lnTo>
                  <a:cubicBezTo>
                    <a:pt x="21529421" y="0"/>
                    <a:pt x="21605239" y="75819"/>
                    <a:pt x="21605239" y="169291"/>
                  </a:cubicBezTo>
                  <a:lnTo>
                    <a:pt x="21605239" y="752221"/>
                  </a:lnTo>
                  <a:cubicBezTo>
                    <a:pt x="21605239" y="845693"/>
                    <a:pt x="21529421" y="921512"/>
                    <a:pt x="21435949" y="921512"/>
                  </a:cubicBezTo>
                  <a:lnTo>
                    <a:pt x="169291" y="921512"/>
                  </a:lnTo>
                  <a:cubicBezTo>
                    <a:pt x="75819" y="921512"/>
                    <a:pt x="0" y="845693"/>
                    <a:pt x="0" y="752221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467612" y="8407908"/>
            <a:ext cx="15485364" cy="370332"/>
            <a:chOff x="0" y="0"/>
            <a:chExt cx="20647152" cy="49377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0647152" cy="493776"/>
            </a:xfrm>
            <a:custGeom>
              <a:avLst/>
              <a:gdLst/>
              <a:ahLst/>
              <a:cxnLst/>
              <a:rect r="r" b="b" t="t" l="l"/>
              <a:pathLst>
                <a:path h="493776" w="20647152">
                  <a:moveTo>
                    <a:pt x="0" y="0"/>
                  </a:moveTo>
                  <a:lnTo>
                    <a:pt x="20647152" y="0"/>
                  </a:lnTo>
                  <a:lnTo>
                    <a:pt x="20647152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4763" r="0" b="-764763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20647152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15313A"/>
                  </a:solidFill>
                  <a:latin typeface="Aptos"/>
                  <a:ea typeface="Aptos"/>
                  <a:cs typeface="Aptos"/>
                  <a:sym typeface="Aptos"/>
                </a:rPr>
                <a:t>Treinamento: Adam + Early Stopping   ·   Saída: probabilidade para cada atividade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467612" y="8945668"/>
            <a:ext cx="15485364" cy="697992"/>
            <a:chOff x="0" y="0"/>
            <a:chExt cx="20647152" cy="93065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0647152" cy="930656"/>
            </a:xfrm>
            <a:custGeom>
              <a:avLst/>
              <a:gdLst/>
              <a:ahLst/>
              <a:cxnLst/>
              <a:rect r="r" b="b" t="t" l="l"/>
              <a:pathLst>
                <a:path h="930656" w="20647152">
                  <a:moveTo>
                    <a:pt x="0" y="0"/>
                  </a:moveTo>
                  <a:lnTo>
                    <a:pt x="20647152" y="0"/>
                  </a:lnTo>
                  <a:lnTo>
                    <a:pt x="20647152" y="930656"/>
                  </a:lnTo>
                  <a:lnTo>
                    <a:pt x="0" y="9306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5758" r="0" b="-35881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9525"/>
              <a:ext cx="20647152" cy="921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0"/>
                </a:lnSpc>
              </a:pPr>
              <a:r>
                <a:rPr lang="en-US" sz="1825">
                  <a:solidFill>
                    <a:srgbClr val="15313A"/>
                  </a:solidFill>
                  <a:latin typeface="Aptos"/>
                  <a:ea typeface="Aptos"/>
                  <a:cs typeface="Aptos"/>
                  <a:sym typeface="Aptos"/>
                </a:rPr>
                <a:t>• 2.157 parâmetros  • 83,73% accuracy INT8  •  0,8355 macro-F1  •  ≈ 10,70KB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5773400" y="9806940"/>
            <a:ext cx="1508760" cy="262305"/>
            <a:chOff x="0" y="0"/>
            <a:chExt cx="2011680" cy="3497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011680" cy="349740"/>
            </a:xfrm>
            <a:custGeom>
              <a:avLst/>
              <a:gdLst/>
              <a:ahLst/>
              <a:cxnLst/>
              <a:rect r="r" b="b" t="t" l="l"/>
              <a:pathLst>
                <a:path h="3497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49740"/>
                  </a:lnTo>
                  <a:lnTo>
                    <a:pt x="0" y="349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244" r="0" b="-53908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2011680" cy="349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 b="true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  / 14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5431536" y="6117336"/>
            <a:ext cx="3360420" cy="451911"/>
            <a:chOff x="0" y="0"/>
            <a:chExt cx="4480560" cy="60254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480560" cy="602548"/>
            </a:xfrm>
            <a:custGeom>
              <a:avLst/>
              <a:gdLst/>
              <a:ahLst/>
              <a:cxnLst/>
              <a:rect r="r" b="b" t="t" l="l"/>
              <a:pathLst>
                <a:path h="60254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02548"/>
                  </a:lnTo>
                  <a:lnTo>
                    <a:pt x="0" y="6025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846" r="0" b="-91935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4480560" cy="612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429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Global Average Pooling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7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552" y="384048"/>
            <a:ext cx="7818120" cy="274320"/>
            <a:chOff x="0" y="0"/>
            <a:chExt cx="1042416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424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22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EMBARCADA  /  PROJETO FINAL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0" y="384048"/>
            <a:ext cx="4389120" cy="274320"/>
            <a:chOff x="0" y="0"/>
            <a:chExt cx="585216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55"/>
                </a:lnSpc>
              </a:pPr>
              <a:r>
                <a:rPr lang="en-US" b="true" sz="1380" spc="16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  ·  GALAXY WATCH6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020">
            <a:off x="978017" y="859345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020">
            <a:off x="978017" y="9719882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1268" y="9820656"/>
            <a:ext cx="10012680" cy="205740"/>
            <a:chOff x="0" y="0"/>
            <a:chExt cx="1335024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0239" cy="274320"/>
            </a:xfrm>
            <a:custGeom>
              <a:avLst/>
              <a:gdLst/>
              <a:ahLst/>
              <a:cxnLst/>
              <a:rect r="r" b="b" t="t" l="l"/>
              <a:pathLst>
                <a:path h="27432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71" r="0" b="-89827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350240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spc="21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AVALIAÇÃO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2416" y="1207008"/>
            <a:ext cx="11658600" cy="342900"/>
            <a:chOff x="0" y="0"/>
            <a:chExt cx="155448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554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EXPERIMENTO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1268" y="1673352"/>
            <a:ext cx="16116300" cy="987552"/>
            <a:chOff x="0" y="0"/>
            <a:chExt cx="21488400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4884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984" r="0" b="-2679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48840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Avaliação justa, por participante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6132" y="2715768"/>
            <a:ext cx="16047720" cy="589788"/>
            <a:chOff x="0" y="0"/>
            <a:chExt cx="21396960" cy="7863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96961" cy="786384"/>
            </a:xfrm>
            <a:custGeom>
              <a:avLst/>
              <a:gdLst/>
              <a:ahLst/>
              <a:cxnLst/>
              <a:rect r="r" b="b" t="t" l="l"/>
              <a:pathLst>
                <a:path h="786384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74" r="0" b="-48017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3969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Os dados de teste pertencem a pessoas que o modelo não viu durante o treinamento.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4039" y="3803523"/>
            <a:ext cx="11098082" cy="1472946"/>
            <a:chOff x="0" y="0"/>
            <a:chExt cx="14797443" cy="19639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797405" cy="1963928"/>
            </a:xfrm>
            <a:custGeom>
              <a:avLst/>
              <a:gdLst/>
              <a:ahLst/>
              <a:cxnLst/>
              <a:rect r="r" b="b" t="t" l="l"/>
              <a:pathLst>
                <a:path h="1963928" w="14797405">
                  <a:moveTo>
                    <a:pt x="0" y="37084"/>
                  </a:moveTo>
                  <a:cubicBezTo>
                    <a:pt x="0" y="16637"/>
                    <a:pt x="16637" y="0"/>
                    <a:pt x="37084" y="0"/>
                  </a:cubicBezTo>
                  <a:lnTo>
                    <a:pt x="14760321" y="0"/>
                  </a:lnTo>
                  <a:cubicBezTo>
                    <a:pt x="14780768" y="0"/>
                    <a:pt x="14797405" y="16637"/>
                    <a:pt x="14797405" y="37084"/>
                  </a:cubicBezTo>
                  <a:lnTo>
                    <a:pt x="14797405" y="1926844"/>
                  </a:lnTo>
                  <a:cubicBezTo>
                    <a:pt x="14797405" y="1947291"/>
                    <a:pt x="14780768" y="1963928"/>
                    <a:pt x="14760321" y="1963928"/>
                  </a:cubicBezTo>
                  <a:lnTo>
                    <a:pt x="37084" y="1963928"/>
                  </a:lnTo>
                  <a:cubicBezTo>
                    <a:pt x="16637" y="1963928"/>
                    <a:pt x="0" y="1947291"/>
                    <a:pt x="0" y="1926844"/>
                  </a:cubicBez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89304" y="4018788"/>
            <a:ext cx="10667552" cy="493776"/>
            <a:chOff x="0" y="0"/>
            <a:chExt cx="14223403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223402" cy="658368"/>
            </a:xfrm>
            <a:custGeom>
              <a:avLst/>
              <a:gdLst/>
              <a:ahLst/>
              <a:cxnLst/>
              <a:rect r="r" b="b" t="t" l="l"/>
              <a:pathLst>
                <a:path h="658368" w="14223402">
                  <a:moveTo>
                    <a:pt x="0" y="0"/>
                  </a:moveTo>
                  <a:lnTo>
                    <a:pt x="14223402" y="0"/>
                  </a:lnTo>
                  <a:lnTo>
                    <a:pt x="14223402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955" r="0" b="-3709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4223403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93292" y="4663440"/>
            <a:ext cx="10859576" cy="329184"/>
            <a:chOff x="0" y="0"/>
            <a:chExt cx="14479435" cy="4389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479434" cy="438912"/>
            </a:xfrm>
            <a:custGeom>
              <a:avLst/>
              <a:gdLst/>
              <a:ahLst/>
              <a:cxnLst/>
              <a:rect r="r" b="b" t="t" l="l"/>
              <a:pathLst>
                <a:path h="438912" w="14479434">
                  <a:moveTo>
                    <a:pt x="0" y="0"/>
                  </a:moveTo>
                  <a:lnTo>
                    <a:pt x="14479434" y="0"/>
                  </a:lnTo>
                  <a:lnTo>
                    <a:pt x="1447943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2799" r="0" b="-59279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4479435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Treino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153071" y="3803523"/>
            <a:ext cx="2551395" cy="1472946"/>
            <a:chOff x="0" y="0"/>
            <a:chExt cx="3401860" cy="19639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01949" cy="1963928"/>
            </a:xfrm>
            <a:custGeom>
              <a:avLst/>
              <a:gdLst/>
              <a:ahLst/>
              <a:cxnLst/>
              <a:rect r="r" b="b" t="t" l="l"/>
              <a:pathLst>
                <a:path h="1963928" w="3401949">
                  <a:moveTo>
                    <a:pt x="0" y="37084"/>
                  </a:moveTo>
                  <a:cubicBezTo>
                    <a:pt x="0" y="16637"/>
                    <a:pt x="16637" y="0"/>
                    <a:pt x="37084" y="0"/>
                  </a:cubicBezTo>
                  <a:lnTo>
                    <a:pt x="3364865" y="0"/>
                  </a:lnTo>
                  <a:cubicBezTo>
                    <a:pt x="3385312" y="0"/>
                    <a:pt x="3401949" y="16637"/>
                    <a:pt x="3401949" y="37084"/>
                  </a:cubicBezTo>
                  <a:lnTo>
                    <a:pt x="3401949" y="1926844"/>
                  </a:lnTo>
                  <a:cubicBezTo>
                    <a:pt x="3401949" y="1947291"/>
                    <a:pt x="3385312" y="1963928"/>
                    <a:pt x="3364865" y="1963928"/>
                  </a:cubicBezTo>
                  <a:lnTo>
                    <a:pt x="37084" y="1963928"/>
                  </a:lnTo>
                  <a:cubicBezTo>
                    <a:pt x="16637" y="1963928"/>
                    <a:pt x="0" y="1947291"/>
                    <a:pt x="0" y="1926844"/>
                  </a:cubicBezTo>
                  <a:close/>
                </a:path>
              </a:pathLst>
            </a:custGeom>
            <a:solidFill>
              <a:srgbClr val="63AEA1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68336" y="4018788"/>
            <a:ext cx="2120865" cy="493776"/>
            <a:chOff x="0" y="0"/>
            <a:chExt cx="2827820" cy="6583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27826" cy="658368"/>
            </a:xfrm>
            <a:custGeom>
              <a:avLst/>
              <a:gdLst/>
              <a:ahLst/>
              <a:cxnLst/>
              <a:rect r="r" b="b" t="t" l="l"/>
              <a:pathLst>
                <a:path h="658368" w="2827826">
                  <a:moveTo>
                    <a:pt x="0" y="0"/>
                  </a:moveTo>
                  <a:lnTo>
                    <a:pt x="2827826" y="0"/>
                  </a:lnTo>
                  <a:lnTo>
                    <a:pt x="282782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92" r="0" b="-3369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8278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72324" y="4663440"/>
            <a:ext cx="2312889" cy="329184"/>
            <a:chOff x="0" y="0"/>
            <a:chExt cx="3083852" cy="4389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83858" cy="438912"/>
            </a:xfrm>
            <a:custGeom>
              <a:avLst/>
              <a:gdLst/>
              <a:ahLst/>
              <a:cxnLst/>
              <a:rect r="r" b="b" t="t" l="l"/>
              <a:pathLst>
                <a:path h="438912" w="3083858">
                  <a:moveTo>
                    <a:pt x="0" y="0"/>
                  </a:moveTo>
                  <a:lnTo>
                    <a:pt x="3083858" y="0"/>
                  </a:lnTo>
                  <a:lnTo>
                    <a:pt x="308385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904" r="0" b="-8690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08385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Validação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685426" y="3803523"/>
            <a:ext cx="2551395" cy="1472946"/>
            <a:chOff x="0" y="0"/>
            <a:chExt cx="3401860" cy="19639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01949" cy="1963928"/>
            </a:xfrm>
            <a:custGeom>
              <a:avLst/>
              <a:gdLst/>
              <a:ahLst/>
              <a:cxnLst/>
              <a:rect r="r" b="b" t="t" l="l"/>
              <a:pathLst>
                <a:path h="1963928" w="3401949">
                  <a:moveTo>
                    <a:pt x="0" y="37084"/>
                  </a:moveTo>
                  <a:cubicBezTo>
                    <a:pt x="0" y="16637"/>
                    <a:pt x="16637" y="0"/>
                    <a:pt x="37084" y="0"/>
                  </a:cubicBezTo>
                  <a:lnTo>
                    <a:pt x="3364865" y="0"/>
                  </a:lnTo>
                  <a:cubicBezTo>
                    <a:pt x="3385312" y="0"/>
                    <a:pt x="3401949" y="16637"/>
                    <a:pt x="3401949" y="37084"/>
                  </a:cubicBezTo>
                  <a:lnTo>
                    <a:pt x="3401949" y="1926844"/>
                  </a:lnTo>
                  <a:cubicBezTo>
                    <a:pt x="3401949" y="1947291"/>
                    <a:pt x="3385312" y="1963928"/>
                    <a:pt x="3364865" y="1963928"/>
                  </a:cubicBezTo>
                  <a:lnTo>
                    <a:pt x="37084" y="1963928"/>
                  </a:lnTo>
                  <a:cubicBezTo>
                    <a:pt x="16637" y="1963928"/>
                    <a:pt x="0" y="1947291"/>
                    <a:pt x="0" y="1926844"/>
                  </a:cubicBezTo>
                  <a:close/>
                </a:path>
              </a:pathLst>
            </a:custGeom>
            <a:solidFill>
              <a:srgbClr val="15313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900691" y="4018788"/>
            <a:ext cx="2120865" cy="493776"/>
            <a:chOff x="0" y="0"/>
            <a:chExt cx="2827820" cy="6583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827826" cy="658368"/>
            </a:xfrm>
            <a:custGeom>
              <a:avLst/>
              <a:gdLst/>
              <a:ahLst/>
              <a:cxnLst/>
              <a:rect r="r" b="b" t="t" l="l"/>
              <a:pathLst>
                <a:path h="658368" w="2827826">
                  <a:moveTo>
                    <a:pt x="0" y="0"/>
                  </a:moveTo>
                  <a:lnTo>
                    <a:pt x="2827826" y="0"/>
                  </a:lnTo>
                  <a:lnTo>
                    <a:pt x="282782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92" r="0" b="-3369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8278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804679" y="4663440"/>
            <a:ext cx="2312889" cy="329184"/>
            <a:chOff x="0" y="0"/>
            <a:chExt cx="3083852" cy="4389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83858" cy="438912"/>
            </a:xfrm>
            <a:custGeom>
              <a:avLst/>
              <a:gdLst/>
              <a:ahLst/>
              <a:cxnLst/>
              <a:rect r="r" b="b" t="t" l="l"/>
              <a:pathLst>
                <a:path h="438912" w="3083858">
                  <a:moveTo>
                    <a:pt x="0" y="0"/>
                  </a:moveTo>
                  <a:lnTo>
                    <a:pt x="3083858" y="0"/>
                  </a:lnTo>
                  <a:lnTo>
                    <a:pt x="308385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904" r="0" b="-8690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083852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Teste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10996" y="5582412"/>
            <a:ext cx="14799564" cy="663851"/>
            <a:chOff x="0" y="0"/>
            <a:chExt cx="19732752" cy="88513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732752" cy="885135"/>
            </a:xfrm>
            <a:custGeom>
              <a:avLst/>
              <a:gdLst/>
              <a:ahLst/>
              <a:cxnLst/>
              <a:rect r="r" b="b" t="t" l="l"/>
              <a:pathLst>
                <a:path h="885135" w="19732752">
                  <a:moveTo>
                    <a:pt x="0" y="0"/>
                  </a:moveTo>
                  <a:lnTo>
                    <a:pt x="19732752" y="0"/>
                  </a:lnTo>
                  <a:lnTo>
                    <a:pt x="19732752" y="885135"/>
                  </a:lnTo>
                  <a:lnTo>
                    <a:pt x="0" y="88513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397" r="0" b="-36538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9732752" cy="885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5"/>
                </a:lnSpc>
              </a:pPr>
              <a:r>
                <a:rPr lang="en-US" b="true" sz="2279" spc="161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Observações importantes:</a:t>
              </a:r>
            </a:p>
            <a:p>
              <a:pPr algn="l">
                <a:lnSpc>
                  <a:spcPts val="2015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89660" y="6397752"/>
            <a:ext cx="10590276" cy="2031492"/>
            <a:chOff x="0" y="0"/>
            <a:chExt cx="14120368" cy="27086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120369" cy="2708656"/>
            </a:xfrm>
            <a:custGeom>
              <a:avLst/>
              <a:gdLst/>
              <a:ahLst/>
              <a:cxnLst/>
              <a:rect r="r" b="b" t="t" l="l"/>
              <a:pathLst>
                <a:path h="2708656" w="14120369">
                  <a:moveTo>
                    <a:pt x="0" y="276352"/>
                  </a:moveTo>
                  <a:cubicBezTo>
                    <a:pt x="0" y="123698"/>
                    <a:pt x="257358" y="0"/>
                    <a:pt x="574961" y="0"/>
                  </a:cubicBezTo>
                  <a:lnTo>
                    <a:pt x="13545407" y="0"/>
                  </a:lnTo>
                  <a:cubicBezTo>
                    <a:pt x="13863011" y="0"/>
                    <a:pt x="14120369" y="123698"/>
                    <a:pt x="14120369" y="276352"/>
                  </a:cubicBezTo>
                  <a:lnTo>
                    <a:pt x="14120369" y="2432304"/>
                  </a:lnTo>
                  <a:cubicBezTo>
                    <a:pt x="14120369" y="2584958"/>
                    <a:pt x="13863011" y="2708656"/>
                    <a:pt x="13545407" y="2708656"/>
                  </a:cubicBezTo>
                  <a:lnTo>
                    <a:pt x="574961" y="2708656"/>
                  </a:lnTo>
                  <a:cubicBezTo>
                    <a:pt x="257358" y="2708656"/>
                    <a:pt x="0" y="2584958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71600" y="6748272"/>
            <a:ext cx="4389120" cy="368021"/>
            <a:chOff x="0" y="0"/>
            <a:chExt cx="5852160" cy="49069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52160" cy="490695"/>
            </a:xfrm>
            <a:custGeom>
              <a:avLst/>
              <a:gdLst/>
              <a:ahLst/>
              <a:cxnLst/>
              <a:rect r="r" b="b" t="t" l="l"/>
              <a:pathLst>
                <a:path h="49069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90695"/>
                  </a:lnTo>
                  <a:lnTo>
                    <a:pt x="0" y="490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933" r="0" b="-18083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5852160" cy="490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58"/>
                </a:lnSpc>
              </a:pPr>
              <a:r>
                <a:rPr lang="en-US" sz="1964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Pior Recall: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71600" y="7306793"/>
            <a:ext cx="4389120" cy="651597"/>
            <a:chOff x="0" y="0"/>
            <a:chExt cx="5852160" cy="86879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852160" cy="868797"/>
            </a:xfrm>
            <a:custGeom>
              <a:avLst/>
              <a:gdLst/>
              <a:ahLst/>
              <a:cxnLst/>
              <a:rect r="r" b="b" t="t" l="l"/>
              <a:pathLst>
                <a:path h="868797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68797"/>
                  </a:lnTo>
                  <a:lnTo>
                    <a:pt x="0" y="868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782" r="0" b="-8071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5852160" cy="868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Brushing Teeth - </a:t>
              </a:r>
              <a:r>
                <a:rPr lang="en-US" sz="3450" b="true">
                  <a:solidFill>
                    <a:srgbClr val="FF313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65%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589776" y="6397752"/>
            <a:ext cx="5090160" cy="2031492"/>
            <a:chOff x="0" y="0"/>
            <a:chExt cx="6786880" cy="2708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786880" cy="2708656"/>
            </a:xfrm>
            <a:custGeom>
              <a:avLst/>
              <a:gdLst/>
              <a:ahLst/>
              <a:cxnLst/>
              <a:rect r="r" b="b" t="t" l="l"/>
              <a:pathLst>
                <a:path h="2708656" w="6786880">
                  <a:moveTo>
                    <a:pt x="0" y="276352"/>
                  </a:moveTo>
                  <a:cubicBezTo>
                    <a:pt x="0" y="123698"/>
                    <a:pt x="123698" y="0"/>
                    <a:pt x="276352" y="0"/>
                  </a:cubicBezTo>
                  <a:lnTo>
                    <a:pt x="6510528" y="0"/>
                  </a:lnTo>
                  <a:cubicBezTo>
                    <a:pt x="6663182" y="0"/>
                    <a:pt x="6786880" y="123698"/>
                    <a:pt x="6786880" y="276352"/>
                  </a:cubicBezTo>
                  <a:lnTo>
                    <a:pt x="6786880" y="2432304"/>
                  </a:lnTo>
                  <a:cubicBezTo>
                    <a:pt x="6786880" y="2584958"/>
                    <a:pt x="6663182" y="2708656"/>
                    <a:pt x="6510528" y="2708656"/>
                  </a:cubicBezTo>
                  <a:lnTo>
                    <a:pt x="276352" y="2708656"/>
                  </a:lnTo>
                  <a:cubicBezTo>
                    <a:pt x="123698" y="2708656"/>
                    <a:pt x="0" y="2584958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6871716" y="6748272"/>
            <a:ext cx="4389120" cy="368021"/>
            <a:chOff x="0" y="0"/>
            <a:chExt cx="5852160" cy="49069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852160" cy="490695"/>
            </a:xfrm>
            <a:custGeom>
              <a:avLst/>
              <a:gdLst/>
              <a:ahLst/>
              <a:cxnLst/>
              <a:rect r="r" b="b" t="t" l="l"/>
              <a:pathLst>
                <a:path h="49069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90695"/>
                  </a:lnTo>
                  <a:lnTo>
                    <a:pt x="0" y="490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933" r="0" b="-18083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5852160" cy="490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58"/>
                </a:lnSpc>
              </a:pPr>
              <a:r>
                <a:rPr lang="en-US" sz="1964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Confundido com: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864858" y="7163094"/>
            <a:ext cx="4389120" cy="651597"/>
            <a:chOff x="0" y="0"/>
            <a:chExt cx="5852160" cy="86879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852160" cy="868797"/>
            </a:xfrm>
            <a:custGeom>
              <a:avLst/>
              <a:gdLst/>
              <a:ahLst/>
              <a:cxnLst/>
              <a:rect r="r" b="b" t="t" l="l"/>
              <a:pathLst>
                <a:path h="868797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68797"/>
                  </a:lnTo>
                  <a:lnTo>
                    <a:pt x="0" y="868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782" r="0" b="-8071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5852160" cy="868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Clapping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089892" y="6397752"/>
            <a:ext cx="5090160" cy="2031492"/>
            <a:chOff x="0" y="0"/>
            <a:chExt cx="6786880" cy="27086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786880" cy="2708656"/>
            </a:xfrm>
            <a:custGeom>
              <a:avLst/>
              <a:gdLst/>
              <a:ahLst/>
              <a:cxnLst/>
              <a:rect r="r" b="b" t="t" l="l"/>
              <a:pathLst>
                <a:path h="2708656" w="6786880">
                  <a:moveTo>
                    <a:pt x="0" y="276352"/>
                  </a:moveTo>
                  <a:cubicBezTo>
                    <a:pt x="0" y="123698"/>
                    <a:pt x="123698" y="0"/>
                    <a:pt x="276352" y="0"/>
                  </a:cubicBezTo>
                  <a:lnTo>
                    <a:pt x="6510528" y="0"/>
                  </a:lnTo>
                  <a:cubicBezTo>
                    <a:pt x="6663182" y="0"/>
                    <a:pt x="6786880" y="123698"/>
                    <a:pt x="6786880" y="276352"/>
                  </a:cubicBezTo>
                  <a:lnTo>
                    <a:pt x="6786880" y="2432304"/>
                  </a:lnTo>
                  <a:cubicBezTo>
                    <a:pt x="6786880" y="2584958"/>
                    <a:pt x="6663182" y="2708656"/>
                    <a:pt x="6510528" y="2708656"/>
                  </a:cubicBezTo>
                  <a:lnTo>
                    <a:pt x="276352" y="2708656"/>
                  </a:lnTo>
                  <a:cubicBezTo>
                    <a:pt x="123698" y="2708656"/>
                    <a:pt x="0" y="2584958"/>
                    <a:pt x="0" y="2432304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2371832" y="6748272"/>
            <a:ext cx="4389120" cy="368021"/>
            <a:chOff x="0" y="0"/>
            <a:chExt cx="5852160" cy="49069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852160" cy="490695"/>
            </a:xfrm>
            <a:custGeom>
              <a:avLst/>
              <a:gdLst/>
              <a:ahLst/>
              <a:cxnLst/>
              <a:rect r="r" b="b" t="t" l="l"/>
              <a:pathLst>
                <a:path h="49069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90695"/>
                  </a:lnTo>
                  <a:lnTo>
                    <a:pt x="0" y="490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933" r="0" b="-18083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852160" cy="490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58"/>
                </a:lnSpc>
              </a:pPr>
              <a:r>
                <a:rPr lang="en-US" sz="1964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Melhor recall foi: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371832" y="7255764"/>
            <a:ext cx="4389120" cy="651597"/>
            <a:chOff x="0" y="0"/>
            <a:chExt cx="5852160" cy="86879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852160" cy="868797"/>
            </a:xfrm>
            <a:custGeom>
              <a:avLst/>
              <a:gdLst/>
              <a:ahLst/>
              <a:cxnLst/>
              <a:rect r="r" b="b" t="t" l="l"/>
              <a:pathLst>
                <a:path h="868797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868797"/>
                  </a:lnTo>
                  <a:lnTo>
                    <a:pt x="0" y="868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782" r="0" b="-8071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5852160" cy="868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Jogging</a:t>
              </a:r>
              <a:r>
                <a:rPr lang="en-US" sz="34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773400" y="9806940"/>
            <a:ext cx="1508760" cy="262305"/>
            <a:chOff x="0" y="0"/>
            <a:chExt cx="2011680" cy="3497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11680" cy="349740"/>
            </a:xfrm>
            <a:custGeom>
              <a:avLst/>
              <a:gdLst/>
              <a:ahLst/>
              <a:cxnLst/>
              <a:rect r="r" b="b" t="t" l="l"/>
              <a:pathLst>
                <a:path h="3497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49740"/>
                  </a:lnTo>
                  <a:lnTo>
                    <a:pt x="0" y="349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244" r="0" b="-5390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2011680" cy="349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 b="true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  / 14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71600" y="7958391"/>
            <a:ext cx="4389120" cy="368021"/>
            <a:chOff x="0" y="0"/>
            <a:chExt cx="5852160" cy="49069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852160" cy="490695"/>
            </a:xfrm>
            <a:custGeom>
              <a:avLst/>
              <a:gdLst/>
              <a:ahLst/>
              <a:cxnLst/>
              <a:rect r="r" b="b" t="t" l="l"/>
              <a:pathLst>
                <a:path h="49069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90695"/>
                  </a:lnTo>
                  <a:lnTo>
                    <a:pt x="0" y="490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933" r="0" b="-18083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5852160" cy="490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58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885432" y="7900416"/>
            <a:ext cx="4389120" cy="368021"/>
            <a:chOff x="0" y="0"/>
            <a:chExt cx="5852160" cy="49069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852160" cy="490695"/>
            </a:xfrm>
            <a:custGeom>
              <a:avLst/>
              <a:gdLst/>
              <a:ahLst/>
              <a:cxnLst/>
              <a:rect r="r" b="b" t="t" l="l"/>
              <a:pathLst>
                <a:path h="49069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90695"/>
                  </a:lnTo>
                  <a:lnTo>
                    <a:pt x="0" y="490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933" r="0" b="-18083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5852160" cy="490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58"/>
                </a:lnSpc>
              </a:pPr>
              <a:r>
                <a:rPr lang="en-US" sz="1964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Em 31% de suas janelas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390653" y="7958391"/>
            <a:ext cx="4389120" cy="368021"/>
            <a:chOff x="0" y="0"/>
            <a:chExt cx="5852160" cy="49069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852160" cy="490695"/>
            </a:xfrm>
            <a:custGeom>
              <a:avLst/>
              <a:gdLst/>
              <a:ahLst/>
              <a:cxnLst/>
              <a:rect r="r" b="b" t="t" l="l"/>
              <a:pathLst>
                <a:path h="490695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90695"/>
                  </a:lnTo>
                  <a:lnTo>
                    <a:pt x="0" y="490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933" r="0" b="-18083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5852160" cy="490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58"/>
                </a:lnSpc>
              </a:pPr>
              <a:r>
                <a:rPr lang="en-US" sz="1964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Com 99,7%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10996" y="8619744"/>
            <a:ext cx="16203930" cy="1004866"/>
            <a:chOff x="0" y="0"/>
            <a:chExt cx="21605240" cy="133982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605239" cy="1339821"/>
            </a:xfrm>
            <a:custGeom>
              <a:avLst/>
              <a:gdLst/>
              <a:ahLst/>
              <a:cxnLst/>
              <a:rect r="r" b="b" t="t" l="l"/>
              <a:pathLst>
                <a:path h="1339821" w="21605239">
                  <a:moveTo>
                    <a:pt x="0" y="246139"/>
                  </a:moveTo>
                  <a:cubicBezTo>
                    <a:pt x="0" y="110236"/>
                    <a:pt x="75819" y="0"/>
                    <a:pt x="169291" y="0"/>
                  </a:cubicBezTo>
                  <a:lnTo>
                    <a:pt x="21435949" y="0"/>
                  </a:lnTo>
                  <a:cubicBezTo>
                    <a:pt x="21529421" y="0"/>
                    <a:pt x="21605239" y="110236"/>
                    <a:pt x="21605239" y="246139"/>
                  </a:cubicBezTo>
                  <a:lnTo>
                    <a:pt x="21605239" y="1093683"/>
                  </a:lnTo>
                  <a:cubicBezTo>
                    <a:pt x="21605239" y="1229585"/>
                    <a:pt x="21529421" y="1339821"/>
                    <a:pt x="21435949" y="1339821"/>
                  </a:cubicBezTo>
                  <a:lnTo>
                    <a:pt x="169291" y="1339821"/>
                  </a:lnTo>
                  <a:cubicBezTo>
                    <a:pt x="75819" y="1339821"/>
                    <a:pt x="0" y="1229585"/>
                    <a:pt x="0" y="1093683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504569" y="8780145"/>
            <a:ext cx="15485364" cy="684568"/>
            <a:chOff x="0" y="0"/>
            <a:chExt cx="20647152" cy="91275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647152" cy="912757"/>
            </a:xfrm>
            <a:custGeom>
              <a:avLst/>
              <a:gdLst/>
              <a:ahLst/>
              <a:cxnLst/>
              <a:rect r="r" b="b" t="t" l="l"/>
              <a:pathLst>
                <a:path h="912757" w="20647152">
                  <a:moveTo>
                    <a:pt x="0" y="0"/>
                  </a:moveTo>
                  <a:lnTo>
                    <a:pt x="20647152" y="0"/>
                  </a:lnTo>
                  <a:lnTo>
                    <a:pt x="20647152" y="912757"/>
                  </a:lnTo>
                  <a:lnTo>
                    <a:pt x="0" y="9127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3715" r="0" b="-36781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20647152" cy="912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15313A"/>
                  </a:solidFill>
                  <a:latin typeface="Aptos"/>
                  <a:ea typeface="Aptos"/>
                  <a:cs typeface="Aptos"/>
                  <a:sym typeface="Aptos"/>
                </a:rPr>
                <a:t>Para as outras atividades, foram: </a:t>
              </a:r>
            </a:p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15313A"/>
                  </a:solidFill>
                  <a:latin typeface="Aptos"/>
                  <a:ea typeface="Aptos"/>
                  <a:cs typeface="Aptos"/>
                  <a:sym typeface="Aptos"/>
                </a:rPr>
                <a:t>Stairs  - 83,18% | Clapping -  84,21% | Walking - 89,44% | Jogging  - 99,71% 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7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552" y="384048"/>
            <a:ext cx="7818120" cy="274320"/>
            <a:chOff x="0" y="0"/>
            <a:chExt cx="1042416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424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22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EMBARCADA  /  PROJETO FINAL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0" y="384048"/>
            <a:ext cx="4389120" cy="274320"/>
            <a:chOff x="0" y="0"/>
            <a:chExt cx="585216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55"/>
                </a:lnSpc>
              </a:pPr>
              <a:r>
                <a:rPr lang="en-US" b="true" sz="1380" spc="16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  ·  GALAXY WATCH6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020">
            <a:off x="978017" y="859345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020">
            <a:off x="978017" y="9719882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1268" y="9820656"/>
            <a:ext cx="10012680" cy="205740"/>
            <a:chOff x="0" y="0"/>
            <a:chExt cx="1335024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0239" cy="274320"/>
            </a:xfrm>
            <a:custGeom>
              <a:avLst/>
              <a:gdLst/>
              <a:ahLst/>
              <a:cxnLst/>
              <a:rect r="r" b="b" t="t" l="l"/>
              <a:pathLst>
                <a:path h="27432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71" r="0" b="-89827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350240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spc="21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CONVERSÃO E IMPLANTAÇÃO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2416" y="1207008"/>
            <a:ext cx="11658600" cy="342900"/>
            <a:chOff x="0" y="0"/>
            <a:chExt cx="155448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554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NO DISPOSITIVO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1268" y="1673352"/>
            <a:ext cx="16116300" cy="987552"/>
            <a:chOff x="0" y="0"/>
            <a:chExt cx="21488400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4884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984" r="0" b="-2679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48840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 rede treinada ao modelo INT8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6132" y="2715768"/>
            <a:ext cx="16047720" cy="589788"/>
            <a:chOff x="0" y="0"/>
            <a:chExt cx="21396960" cy="7863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96961" cy="786384"/>
            </a:xfrm>
            <a:custGeom>
              <a:avLst/>
              <a:gdLst/>
              <a:ahLst/>
              <a:cxnLst/>
              <a:rect r="r" b="b" t="t" l="l"/>
              <a:pathLst>
                <a:path h="786384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74" r="0" b="-48017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3969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O objetivo é executar a inferência localmente no Galaxy Watch6 Classic.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48512" y="4024884"/>
            <a:ext cx="3814572" cy="2950464"/>
            <a:chOff x="0" y="0"/>
            <a:chExt cx="5086096" cy="39339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6096" cy="3933952"/>
            </a:xfrm>
            <a:custGeom>
              <a:avLst/>
              <a:gdLst/>
              <a:ahLst/>
              <a:cxnLst/>
              <a:rect r="r" b="b" t="t" l="l"/>
              <a:pathLst>
                <a:path h="3933952" w="5086096">
                  <a:moveTo>
                    <a:pt x="0" y="275717"/>
                  </a:moveTo>
                  <a:cubicBezTo>
                    <a:pt x="0" y="123444"/>
                    <a:pt x="123444" y="0"/>
                    <a:pt x="275717" y="0"/>
                  </a:cubicBezTo>
                  <a:lnTo>
                    <a:pt x="4810379" y="0"/>
                  </a:lnTo>
                  <a:cubicBezTo>
                    <a:pt x="4962652" y="0"/>
                    <a:pt x="5086096" y="123444"/>
                    <a:pt x="5086096" y="275717"/>
                  </a:cubicBezTo>
                  <a:lnTo>
                    <a:pt x="5086096" y="3658235"/>
                  </a:lnTo>
                  <a:cubicBezTo>
                    <a:pt x="5086096" y="3810508"/>
                    <a:pt x="4962652" y="3933952"/>
                    <a:pt x="4810379" y="3933952"/>
                  </a:cubicBezTo>
                  <a:lnTo>
                    <a:pt x="275717" y="3933952"/>
                  </a:lnTo>
                  <a:cubicBezTo>
                    <a:pt x="123444" y="3933952"/>
                    <a:pt x="0" y="3810508"/>
                    <a:pt x="0" y="3658235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20927" y="4352163"/>
            <a:ext cx="704850" cy="704850"/>
            <a:chOff x="0" y="0"/>
            <a:chExt cx="939800" cy="939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02C3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22476" y="4526280"/>
            <a:ext cx="329184" cy="288036"/>
            <a:chOff x="0" y="0"/>
            <a:chExt cx="438912" cy="3840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8912" cy="384048"/>
            </a:xfrm>
            <a:custGeom>
              <a:avLst/>
              <a:gdLst/>
              <a:ahLst/>
              <a:cxnLst/>
              <a:rect r="r" b="b" t="t" l="l"/>
              <a:pathLst>
                <a:path h="3840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38912" cy="393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44168" y="5349240"/>
            <a:ext cx="3223260" cy="493776"/>
            <a:chOff x="0" y="0"/>
            <a:chExt cx="4297680" cy="6583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7680" cy="658368"/>
            </a:xfrm>
            <a:custGeom>
              <a:avLst/>
              <a:gdLst/>
              <a:ahLst/>
              <a:cxnLst/>
              <a:rect r="r" b="b" t="t" l="l"/>
              <a:pathLst>
                <a:path h="658368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2976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Treinar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44168" y="6089904"/>
            <a:ext cx="3264408" cy="534924"/>
            <a:chOff x="0" y="0"/>
            <a:chExt cx="4352544" cy="7132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52544" cy="713232"/>
            </a:xfrm>
            <a:custGeom>
              <a:avLst/>
              <a:gdLst/>
              <a:ahLst/>
              <a:cxnLst/>
              <a:rect r="r" b="b" t="t" l="l"/>
              <a:pathLst>
                <a:path h="713232" w="4352544">
                  <a:moveTo>
                    <a:pt x="0" y="0"/>
                  </a:moveTo>
                  <a:lnTo>
                    <a:pt x="4352544" y="0"/>
                  </a:lnTo>
                  <a:lnTo>
                    <a:pt x="4352544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908" r="0" b="-6890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352544" cy="713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TensorFlow / Keras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360180">
            <a:off x="4847130" y="5339715"/>
            <a:ext cx="400726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5079111" y="5188839"/>
            <a:ext cx="334518" cy="320802"/>
            <a:chOff x="0" y="0"/>
            <a:chExt cx="446024" cy="4277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46024" cy="427736"/>
            </a:xfrm>
            <a:custGeom>
              <a:avLst/>
              <a:gdLst/>
              <a:ahLst/>
              <a:cxnLst/>
              <a:rect r="r" b="b" t="t" l="l"/>
              <a:pathLst>
                <a:path h="427736" w="446024">
                  <a:moveTo>
                    <a:pt x="0" y="0"/>
                  </a:moveTo>
                  <a:lnTo>
                    <a:pt x="232156" y="0"/>
                  </a:lnTo>
                  <a:lnTo>
                    <a:pt x="446024" y="213868"/>
                  </a:lnTo>
                  <a:lnTo>
                    <a:pt x="232156" y="427736"/>
                  </a:lnTo>
                  <a:lnTo>
                    <a:pt x="0" y="427736"/>
                  </a:lnTo>
                  <a:lnTo>
                    <a:pt x="213868" y="213868"/>
                  </a:ln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231892" y="4024884"/>
            <a:ext cx="3814572" cy="2950464"/>
            <a:chOff x="0" y="0"/>
            <a:chExt cx="5086096" cy="39339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86096" cy="3933952"/>
            </a:xfrm>
            <a:custGeom>
              <a:avLst/>
              <a:gdLst/>
              <a:ahLst/>
              <a:cxnLst/>
              <a:rect r="r" b="b" t="t" l="l"/>
              <a:pathLst>
                <a:path h="3933952" w="5086096">
                  <a:moveTo>
                    <a:pt x="0" y="275717"/>
                  </a:moveTo>
                  <a:cubicBezTo>
                    <a:pt x="0" y="123444"/>
                    <a:pt x="123444" y="0"/>
                    <a:pt x="275717" y="0"/>
                  </a:cubicBezTo>
                  <a:lnTo>
                    <a:pt x="4810379" y="0"/>
                  </a:lnTo>
                  <a:cubicBezTo>
                    <a:pt x="4962652" y="0"/>
                    <a:pt x="5086096" y="123444"/>
                    <a:pt x="5086096" y="275717"/>
                  </a:cubicBezTo>
                  <a:lnTo>
                    <a:pt x="5086096" y="3658235"/>
                  </a:lnTo>
                  <a:cubicBezTo>
                    <a:pt x="5086096" y="3810508"/>
                    <a:pt x="4962652" y="3933952"/>
                    <a:pt x="4810379" y="3933952"/>
                  </a:cubicBezTo>
                  <a:lnTo>
                    <a:pt x="275717" y="3933952"/>
                  </a:lnTo>
                  <a:cubicBezTo>
                    <a:pt x="123444" y="3933952"/>
                    <a:pt x="0" y="3810508"/>
                    <a:pt x="0" y="3658235"/>
                  </a:cubicBezTo>
                  <a:close/>
                </a:path>
              </a:pathLst>
            </a:custGeom>
            <a:solidFill>
              <a:srgbClr val="E3F2E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5504307" y="4352163"/>
            <a:ext cx="704850" cy="704850"/>
            <a:chOff x="0" y="0"/>
            <a:chExt cx="939800" cy="939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705856" y="4526280"/>
            <a:ext cx="329184" cy="288036"/>
            <a:chOff x="0" y="0"/>
            <a:chExt cx="438912" cy="3840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8912" cy="384048"/>
            </a:xfrm>
            <a:custGeom>
              <a:avLst/>
              <a:gdLst/>
              <a:ahLst/>
              <a:cxnLst/>
              <a:rect r="r" b="b" t="t" l="l"/>
              <a:pathLst>
                <a:path h="3840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38912" cy="393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527548" y="5349240"/>
            <a:ext cx="3223260" cy="493776"/>
            <a:chOff x="0" y="0"/>
            <a:chExt cx="4297680" cy="6583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97680" cy="658368"/>
            </a:xfrm>
            <a:custGeom>
              <a:avLst/>
              <a:gdLst/>
              <a:ahLst/>
              <a:cxnLst/>
              <a:rect r="r" b="b" t="t" l="l"/>
              <a:pathLst>
                <a:path h="658368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2976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Converter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527548" y="6089904"/>
            <a:ext cx="3264408" cy="640914"/>
            <a:chOff x="0" y="0"/>
            <a:chExt cx="4352544" cy="8545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52544" cy="854552"/>
            </a:xfrm>
            <a:custGeom>
              <a:avLst/>
              <a:gdLst/>
              <a:ahLst/>
              <a:cxnLst/>
              <a:rect r="r" b="b" t="t" l="l"/>
              <a:pathLst>
                <a:path h="854552" w="4352544">
                  <a:moveTo>
                    <a:pt x="0" y="0"/>
                  </a:moveTo>
                  <a:lnTo>
                    <a:pt x="4352544" y="0"/>
                  </a:lnTo>
                  <a:lnTo>
                    <a:pt x="4352544" y="854552"/>
                  </a:lnTo>
                  <a:lnTo>
                    <a:pt x="0" y="854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513" r="0" b="-409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4352544" cy="854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TFLite + quantização(TFLiteConverter)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360180">
            <a:off x="9030510" y="5339715"/>
            <a:ext cx="400726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9262491" y="5188839"/>
            <a:ext cx="334518" cy="320802"/>
            <a:chOff x="0" y="0"/>
            <a:chExt cx="446024" cy="4277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6024" cy="427736"/>
            </a:xfrm>
            <a:custGeom>
              <a:avLst/>
              <a:gdLst/>
              <a:ahLst/>
              <a:cxnLst/>
              <a:rect r="r" b="b" t="t" l="l"/>
              <a:pathLst>
                <a:path h="427736" w="446024">
                  <a:moveTo>
                    <a:pt x="0" y="0"/>
                  </a:moveTo>
                  <a:lnTo>
                    <a:pt x="232156" y="0"/>
                  </a:lnTo>
                  <a:lnTo>
                    <a:pt x="446024" y="213868"/>
                  </a:lnTo>
                  <a:lnTo>
                    <a:pt x="232156" y="427736"/>
                  </a:lnTo>
                  <a:lnTo>
                    <a:pt x="0" y="427736"/>
                  </a:lnTo>
                  <a:lnTo>
                    <a:pt x="213868" y="213868"/>
                  </a:ln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15272" y="4024884"/>
            <a:ext cx="3814572" cy="2950464"/>
            <a:chOff x="0" y="0"/>
            <a:chExt cx="5086096" cy="39339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086096" cy="3933952"/>
            </a:xfrm>
            <a:custGeom>
              <a:avLst/>
              <a:gdLst/>
              <a:ahLst/>
              <a:cxnLst/>
              <a:rect r="r" b="b" t="t" l="l"/>
              <a:pathLst>
                <a:path h="3933952" w="5086096">
                  <a:moveTo>
                    <a:pt x="0" y="275717"/>
                  </a:moveTo>
                  <a:cubicBezTo>
                    <a:pt x="0" y="123444"/>
                    <a:pt x="123444" y="0"/>
                    <a:pt x="275717" y="0"/>
                  </a:cubicBezTo>
                  <a:lnTo>
                    <a:pt x="4810379" y="0"/>
                  </a:lnTo>
                  <a:cubicBezTo>
                    <a:pt x="4962652" y="0"/>
                    <a:pt x="5086096" y="123444"/>
                    <a:pt x="5086096" y="275717"/>
                  </a:cubicBezTo>
                  <a:lnTo>
                    <a:pt x="5086096" y="3658235"/>
                  </a:lnTo>
                  <a:cubicBezTo>
                    <a:pt x="5086096" y="3810508"/>
                    <a:pt x="4962652" y="3933952"/>
                    <a:pt x="4810379" y="3933952"/>
                  </a:cubicBezTo>
                  <a:lnTo>
                    <a:pt x="275717" y="3933952"/>
                  </a:lnTo>
                  <a:cubicBezTo>
                    <a:pt x="123444" y="3933952"/>
                    <a:pt x="0" y="3810508"/>
                    <a:pt x="0" y="3658235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687687" y="4352163"/>
            <a:ext cx="704850" cy="704850"/>
            <a:chOff x="0" y="0"/>
            <a:chExt cx="939800" cy="939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02C35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889236" y="4526280"/>
            <a:ext cx="329184" cy="288036"/>
            <a:chOff x="0" y="0"/>
            <a:chExt cx="438912" cy="38404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38912" cy="384048"/>
            </a:xfrm>
            <a:custGeom>
              <a:avLst/>
              <a:gdLst/>
              <a:ahLst/>
              <a:cxnLst/>
              <a:rect r="r" b="b" t="t" l="l"/>
              <a:pathLst>
                <a:path h="3840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438912" cy="393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710928" y="5349240"/>
            <a:ext cx="3223260" cy="493776"/>
            <a:chOff x="0" y="0"/>
            <a:chExt cx="4297680" cy="6583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297680" cy="658368"/>
            </a:xfrm>
            <a:custGeom>
              <a:avLst/>
              <a:gdLst/>
              <a:ahLst/>
              <a:cxnLst/>
              <a:rect r="r" b="b" t="t" l="l"/>
              <a:pathLst>
                <a:path h="658368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42976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Integrar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710928" y="6089904"/>
            <a:ext cx="3264408" cy="534924"/>
            <a:chOff x="0" y="0"/>
            <a:chExt cx="4352544" cy="71323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352544" cy="713232"/>
            </a:xfrm>
            <a:custGeom>
              <a:avLst/>
              <a:gdLst/>
              <a:ahLst/>
              <a:cxnLst/>
              <a:rect r="r" b="b" t="t" l="l"/>
              <a:pathLst>
                <a:path h="713232" w="4352544">
                  <a:moveTo>
                    <a:pt x="0" y="0"/>
                  </a:moveTo>
                  <a:lnTo>
                    <a:pt x="4352544" y="0"/>
                  </a:lnTo>
                  <a:lnTo>
                    <a:pt x="4352544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908" r="0" b="-6890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4352544" cy="713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App Wear OS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 rot="360180">
            <a:off x="13213890" y="5339715"/>
            <a:ext cx="400726" cy="0"/>
          </a:xfrm>
          <a:prstGeom prst="line">
            <a:avLst/>
          </a:prstGeom>
          <a:ln cap="rnd" w="19050">
            <a:solidFill>
              <a:srgbClr val="087D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0" id="70"/>
          <p:cNvGrpSpPr/>
          <p:nvPr/>
        </p:nvGrpSpPr>
        <p:grpSpPr>
          <a:xfrm rot="0">
            <a:off x="13445871" y="5188839"/>
            <a:ext cx="334518" cy="320802"/>
            <a:chOff x="0" y="0"/>
            <a:chExt cx="446024" cy="4277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46024" cy="427736"/>
            </a:xfrm>
            <a:custGeom>
              <a:avLst/>
              <a:gdLst/>
              <a:ahLst/>
              <a:cxnLst/>
              <a:rect r="r" b="b" t="t" l="l"/>
              <a:pathLst>
                <a:path h="427736" w="446024">
                  <a:moveTo>
                    <a:pt x="0" y="0"/>
                  </a:moveTo>
                  <a:lnTo>
                    <a:pt x="232156" y="0"/>
                  </a:lnTo>
                  <a:lnTo>
                    <a:pt x="446024" y="213868"/>
                  </a:lnTo>
                  <a:lnTo>
                    <a:pt x="232156" y="427736"/>
                  </a:lnTo>
                  <a:lnTo>
                    <a:pt x="0" y="427736"/>
                  </a:lnTo>
                  <a:lnTo>
                    <a:pt x="213868" y="213868"/>
                  </a:lnTo>
                  <a:close/>
                </a:path>
              </a:pathLst>
            </a:custGeom>
            <a:solidFill>
              <a:srgbClr val="087D75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598652" y="4024884"/>
            <a:ext cx="3814572" cy="2950464"/>
            <a:chOff x="0" y="0"/>
            <a:chExt cx="5086096" cy="393395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086096" cy="3933952"/>
            </a:xfrm>
            <a:custGeom>
              <a:avLst/>
              <a:gdLst/>
              <a:ahLst/>
              <a:cxnLst/>
              <a:rect r="r" b="b" t="t" l="l"/>
              <a:pathLst>
                <a:path h="3933952" w="5086096">
                  <a:moveTo>
                    <a:pt x="0" y="275717"/>
                  </a:moveTo>
                  <a:cubicBezTo>
                    <a:pt x="0" y="123444"/>
                    <a:pt x="123444" y="0"/>
                    <a:pt x="275717" y="0"/>
                  </a:cubicBezTo>
                  <a:lnTo>
                    <a:pt x="4810379" y="0"/>
                  </a:lnTo>
                  <a:cubicBezTo>
                    <a:pt x="4962652" y="0"/>
                    <a:pt x="5086096" y="123444"/>
                    <a:pt x="5086096" y="275717"/>
                  </a:cubicBezTo>
                  <a:lnTo>
                    <a:pt x="5086096" y="3658235"/>
                  </a:lnTo>
                  <a:cubicBezTo>
                    <a:pt x="5086096" y="3810508"/>
                    <a:pt x="4962652" y="3933952"/>
                    <a:pt x="4810379" y="3933952"/>
                  </a:cubicBezTo>
                  <a:lnTo>
                    <a:pt x="275717" y="3933952"/>
                  </a:lnTo>
                  <a:cubicBezTo>
                    <a:pt x="123444" y="3933952"/>
                    <a:pt x="0" y="3810508"/>
                    <a:pt x="0" y="3658235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3871067" y="4352163"/>
            <a:ext cx="704850" cy="704850"/>
            <a:chOff x="0" y="0"/>
            <a:chExt cx="939800" cy="939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02C35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4072616" y="4526280"/>
            <a:ext cx="329184" cy="288036"/>
            <a:chOff x="0" y="0"/>
            <a:chExt cx="438912" cy="38404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38912" cy="384048"/>
            </a:xfrm>
            <a:custGeom>
              <a:avLst/>
              <a:gdLst/>
              <a:ahLst/>
              <a:cxnLst/>
              <a:rect r="r" b="b" t="t" l="l"/>
              <a:pathLst>
                <a:path h="384048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438912" cy="393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3894308" y="5349240"/>
            <a:ext cx="3223260" cy="493776"/>
            <a:chOff x="0" y="0"/>
            <a:chExt cx="4297680" cy="65836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297680" cy="658368"/>
            </a:xfrm>
            <a:custGeom>
              <a:avLst/>
              <a:gdLst/>
              <a:ahLst/>
              <a:cxnLst/>
              <a:rect r="r" b="b" t="t" l="l"/>
              <a:pathLst>
                <a:path h="658368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193" r="0" b="-7719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42976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Executar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894308" y="6089904"/>
            <a:ext cx="3264408" cy="534924"/>
            <a:chOff x="0" y="0"/>
            <a:chExt cx="4352544" cy="71323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52544" cy="713232"/>
            </a:xfrm>
            <a:custGeom>
              <a:avLst/>
              <a:gdLst/>
              <a:ahLst/>
              <a:cxnLst/>
              <a:rect r="r" b="b" t="t" l="l"/>
              <a:pathLst>
                <a:path h="713232" w="4352544">
                  <a:moveTo>
                    <a:pt x="0" y="0"/>
                  </a:moveTo>
                  <a:lnTo>
                    <a:pt x="4352544" y="0"/>
                  </a:lnTo>
                  <a:lnTo>
                    <a:pt x="4352544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908" r="0" b="-6890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4352544" cy="713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inferência no relógio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87755" y="7657719"/>
            <a:ext cx="16149066" cy="1308354"/>
            <a:chOff x="0" y="0"/>
            <a:chExt cx="21532088" cy="174447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532087" cy="1744472"/>
            </a:xfrm>
            <a:custGeom>
              <a:avLst/>
              <a:gdLst/>
              <a:ahLst/>
              <a:cxnLst/>
              <a:rect r="r" b="b" t="t" l="l"/>
              <a:pathLst>
                <a:path h="1744472" w="21532087">
                  <a:moveTo>
                    <a:pt x="0" y="315468"/>
                  </a:moveTo>
                  <a:cubicBezTo>
                    <a:pt x="0" y="141224"/>
                    <a:pt x="141224" y="0"/>
                    <a:pt x="315468" y="0"/>
                  </a:cubicBezTo>
                  <a:lnTo>
                    <a:pt x="21216620" y="0"/>
                  </a:lnTo>
                  <a:cubicBezTo>
                    <a:pt x="21390863" y="0"/>
                    <a:pt x="21532087" y="141224"/>
                    <a:pt x="21532087" y="315468"/>
                  </a:cubicBezTo>
                  <a:lnTo>
                    <a:pt x="21532087" y="1429004"/>
                  </a:lnTo>
                  <a:cubicBezTo>
                    <a:pt x="21532087" y="1603248"/>
                    <a:pt x="21390863" y="1744472"/>
                    <a:pt x="21216620" y="1744472"/>
                  </a:cubicBezTo>
                  <a:lnTo>
                    <a:pt x="315468" y="1744472"/>
                  </a:lnTo>
                  <a:cubicBezTo>
                    <a:pt x="141224" y="1744472"/>
                    <a:pt x="0" y="1603248"/>
                    <a:pt x="0" y="1429004"/>
                  </a:cubicBezTo>
                  <a:close/>
                </a:path>
              </a:pathLst>
            </a:custGeom>
            <a:solidFill>
              <a:srgbClr val="102C35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481328" y="7955280"/>
            <a:ext cx="4526280" cy="411480"/>
            <a:chOff x="0" y="0"/>
            <a:chExt cx="6035040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6035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Contrato do modelo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5664708" y="8010144"/>
            <a:ext cx="11109960" cy="315468"/>
            <a:chOff x="0" y="0"/>
            <a:chExt cx="14813280" cy="42062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813280" cy="420624"/>
            </a:xfrm>
            <a:custGeom>
              <a:avLst/>
              <a:gdLst/>
              <a:ahLst/>
              <a:cxnLst/>
              <a:rect r="r" b="b" t="t" l="l"/>
              <a:pathLst>
                <a:path h="420624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212" r="0" b="-63621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9525"/>
              <a:ext cx="14813280" cy="411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>
                  <a:solidFill>
                    <a:srgbClr val="B9E5DB"/>
                  </a:solidFill>
                  <a:latin typeface="Aptos"/>
                  <a:ea typeface="Aptos"/>
                  <a:cs typeface="Aptos"/>
                  <a:sym typeface="Aptos"/>
                </a:rPr>
                <a:t>Entrada int8 [1,100,6]   ·   labels fixas   ·   mesma ordem de canais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5773400" y="9806940"/>
            <a:ext cx="1508760" cy="262305"/>
            <a:chOff x="0" y="0"/>
            <a:chExt cx="2011680" cy="3497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011680" cy="349740"/>
            </a:xfrm>
            <a:custGeom>
              <a:avLst/>
              <a:gdLst/>
              <a:ahLst/>
              <a:cxnLst/>
              <a:rect r="r" b="b" t="t" l="l"/>
              <a:pathLst>
                <a:path h="3497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49740"/>
                  </a:lnTo>
                  <a:lnTo>
                    <a:pt x="0" y="349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244" r="0" b="-53908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2011680" cy="349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 b="true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  / 14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7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552" y="384048"/>
            <a:ext cx="7818120" cy="274320"/>
            <a:chOff x="0" y="0"/>
            <a:chExt cx="1042416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5323" r="0" b="-50532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04241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22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 EMBARCADA  /  PROJETO FINAL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93040" y="384048"/>
            <a:ext cx="4389120" cy="274320"/>
            <a:chOff x="0" y="0"/>
            <a:chExt cx="585216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365760"/>
            </a:xfrm>
            <a:custGeom>
              <a:avLst/>
              <a:gdLst/>
              <a:ahLst/>
              <a:cxnLst/>
              <a:rect r="r" b="b" t="t" l="l"/>
              <a:pathLst>
                <a:path h="365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8521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55"/>
                </a:lnSpc>
              </a:pPr>
              <a:r>
                <a:rPr lang="en-US" b="true" sz="1380" spc="164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WISDM  ·  GALAXY WATCH6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4020">
            <a:off x="978017" y="859345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020">
            <a:off x="978017" y="9719882"/>
            <a:ext cx="16327384" cy="0"/>
          </a:xfrm>
          <a:prstGeom prst="line">
            <a:avLst/>
          </a:prstGeom>
          <a:ln cap="rnd" w="9525">
            <a:solidFill>
              <a:srgbClr val="DCE6E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01268" y="9820656"/>
            <a:ext cx="10012680" cy="205740"/>
            <a:chOff x="0" y="0"/>
            <a:chExt cx="13350240" cy="2743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0239" cy="274320"/>
            </a:xfrm>
            <a:custGeom>
              <a:avLst/>
              <a:gdLst/>
              <a:ahLst/>
              <a:cxnLst/>
              <a:rect r="r" b="b" t="t" l="l"/>
              <a:pathLst>
                <a:path h="27432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71" r="0" b="-89827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350240" cy="274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spc="210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VALIDAÇÃO E PRÓXIMOS PASSOS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2416" y="1207008"/>
            <a:ext cx="11658600" cy="342900"/>
            <a:chOff x="0" y="0"/>
            <a:chExt cx="155448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554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80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PROVA DE VIABILIDADE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1268" y="1673352"/>
            <a:ext cx="16116300" cy="987552"/>
            <a:chOff x="0" y="0"/>
            <a:chExt cx="21488400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4884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488400">
                  <a:moveTo>
                    <a:pt x="0" y="0"/>
                  </a:moveTo>
                  <a:lnTo>
                    <a:pt x="21488400" y="0"/>
                  </a:lnTo>
                  <a:lnTo>
                    <a:pt x="214884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984" r="0" b="-2679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48840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 que já funciona no Galaxy Watch6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6132" y="2715768"/>
            <a:ext cx="16047720" cy="589788"/>
            <a:chOff x="0" y="0"/>
            <a:chExt cx="21396960" cy="7863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96961" cy="786384"/>
            </a:xfrm>
            <a:custGeom>
              <a:avLst/>
              <a:gdLst/>
              <a:ahLst/>
              <a:cxnLst/>
              <a:rect r="r" b="b" t="t" l="l"/>
              <a:pathLst>
                <a:path h="786384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0174" r="0" b="-48017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3969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61747A"/>
                  </a:solidFill>
                  <a:latin typeface="Aptos"/>
                  <a:ea typeface="Aptos"/>
                  <a:cs typeface="Aptos"/>
                  <a:sym typeface="Aptos"/>
                </a:rPr>
                <a:t>O dispositivo real já recebeu nosso aplicativo e forneceu leituras de movimento.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62228" y="3627120"/>
            <a:ext cx="7805928" cy="5213604"/>
            <a:chOff x="0" y="0"/>
            <a:chExt cx="10407904" cy="69514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07904" cy="6951472"/>
            </a:xfrm>
            <a:custGeom>
              <a:avLst/>
              <a:gdLst/>
              <a:ahLst/>
              <a:cxnLst/>
              <a:rect r="r" b="b" t="t" l="l"/>
              <a:pathLst>
                <a:path h="6951472" w="10407904">
                  <a:moveTo>
                    <a:pt x="0" y="348488"/>
                  </a:moveTo>
                  <a:cubicBezTo>
                    <a:pt x="0" y="155956"/>
                    <a:pt x="155956" y="0"/>
                    <a:pt x="348488" y="0"/>
                  </a:cubicBezTo>
                  <a:lnTo>
                    <a:pt x="10059416" y="0"/>
                  </a:lnTo>
                  <a:cubicBezTo>
                    <a:pt x="10251822" y="0"/>
                    <a:pt x="10407904" y="155956"/>
                    <a:pt x="10407904" y="348488"/>
                  </a:cubicBezTo>
                  <a:lnTo>
                    <a:pt x="10407904" y="6602984"/>
                  </a:lnTo>
                  <a:cubicBezTo>
                    <a:pt x="10407904" y="6795389"/>
                    <a:pt x="10251948" y="6951472"/>
                    <a:pt x="10059416" y="6951472"/>
                  </a:cubicBezTo>
                  <a:lnTo>
                    <a:pt x="348488" y="6951472"/>
                  </a:lnTo>
                  <a:cubicBezTo>
                    <a:pt x="155956" y="6951472"/>
                    <a:pt x="0" y="6795516"/>
                    <a:pt x="0" y="6602984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CE6E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317355" y="3625215"/>
            <a:ext cx="7905750" cy="5217414"/>
            <a:chOff x="0" y="0"/>
            <a:chExt cx="10541000" cy="69565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41000" cy="6956552"/>
            </a:xfrm>
            <a:custGeom>
              <a:avLst/>
              <a:gdLst/>
              <a:ahLst/>
              <a:cxnLst/>
              <a:rect r="r" b="b" t="t" l="l"/>
              <a:pathLst>
                <a:path h="6956552" w="10541000">
                  <a:moveTo>
                    <a:pt x="0" y="348742"/>
                  </a:moveTo>
                  <a:cubicBezTo>
                    <a:pt x="0" y="156083"/>
                    <a:pt x="156083" y="0"/>
                    <a:pt x="348742" y="0"/>
                  </a:cubicBezTo>
                  <a:lnTo>
                    <a:pt x="10192258" y="0"/>
                  </a:lnTo>
                  <a:cubicBezTo>
                    <a:pt x="10384917" y="0"/>
                    <a:pt x="10541000" y="156083"/>
                    <a:pt x="10541000" y="348742"/>
                  </a:cubicBezTo>
                  <a:lnTo>
                    <a:pt x="10541000" y="6607810"/>
                  </a:lnTo>
                  <a:cubicBezTo>
                    <a:pt x="10541000" y="6800469"/>
                    <a:pt x="10384917" y="6956552"/>
                    <a:pt x="10192258" y="6956552"/>
                  </a:cubicBezTo>
                  <a:lnTo>
                    <a:pt x="348742" y="6956552"/>
                  </a:lnTo>
                  <a:cubicBezTo>
                    <a:pt x="156083" y="6956552"/>
                    <a:pt x="0" y="6800469"/>
                    <a:pt x="0" y="6607810"/>
                  </a:cubicBezTo>
                  <a:close/>
                </a:path>
              </a:pathLst>
            </a:custGeom>
            <a:blipFill>
              <a:blip r:embed="rId3"/>
              <a:stretch>
                <a:fillRect l="0" t="-84725" r="0" b="-8472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81328" y="4101084"/>
            <a:ext cx="6995160" cy="384048"/>
            <a:chOff x="0" y="0"/>
            <a:chExt cx="9326880" cy="5120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26880" cy="512064"/>
            </a:xfrm>
            <a:custGeom>
              <a:avLst/>
              <a:gdLst/>
              <a:ahLst/>
              <a:cxnLst/>
              <a:rect r="r" b="b" t="t" l="l"/>
              <a:pathLst>
                <a:path h="512064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4906" r="0" b="-30490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932688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89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VALIDADO NO RELÓGIO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71803" y="4832223"/>
            <a:ext cx="403098" cy="403098"/>
            <a:chOff x="0" y="0"/>
            <a:chExt cx="537464" cy="5374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67739" y="4899355"/>
            <a:ext cx="246888" cy="219456"/>
            <a:chOff x="0" y="0"/>
            <a:chExt cx="329184" cy="2926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9184" cy="292608"/>
            </a:xfrm>
            <a:custGeom>
              <a:avLst/>
              <a:gdLst/>
              <a:ahLst/>
              <a:cxnLst/>
              <a:rect r="r" b="b" t="t" l="l"/>
              <a:pathLst>
                <a:path h="292608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29184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✓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98548" y="4828032"/>
            <a:ext cx="6227064" cy="548640"/>
            <a:chOff x="0" y="0"/>
            <a:chExt cx="8302752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302752" cy="731520"/>
            </a:xfrm>
            <a:custGeom>
              <a:avLst/>
              <a:gdLst/>
              <a:ahLst/>
              <a:cxnLst/>
              <a:rect r="r" b="b" t="t" l="l"/>
              <a:pathLst>
                <a:path h="731520" w="8302752">
                  <a:moveTo>
                    <a:pt x="0" y="0"/>
                  </a:moveTo>
                  <a:lnTo>
                    <a:pt x="8302752" y="0"/>
                  </a:lnTo>
                  <a:lnTo>
                    <a:pt x="830275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155" r="0" b="-17115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8302752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5313A"/>
                  </a:solidFill>
                  <a:latin typeface="Aptos"/>
                  <a:ea typeface="Aptos"/>
                  <a:cs typeface="Aptos"/>
                  <a:sym typeface="Aptos"/>
                </a:rPr>
                <a:t>Pareamento via ADB concluído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71803" y="5847207"/>
            <a:ext cx="403098" cy="403098"/>
            <a:chOff x="0" y="0"/>
            <a:chExt cx="537464" cy="5374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67739" y="5914339"/>
            <a:ext cx="246888" cy="219456"/>
            <a:chOff x="0" y="0"/>
            <a:chExt cx="329184" cy="2926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9184" cy="292608"/>
            </a:xfrm>
            <a:custGeom>
              <a:avLst/>
              <a:gdLst/>
              <a:ahLst/>
              <a:cxnLst/>
              <a:rect r="r" b="b" t="t" l="l"/>
              <a:pathLst>
                <a:path h="292608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29184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✓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98548" y="5843016"/>
            <a:ext cx="6227064" cy="548640"/>
            <a:chOff x="0" y="0"/>
            <a:chExt cx="8302752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302752" cy="731520"/>
            </a:xfrm>
            <a:custGeom>
              <a:avLst/>
              <a:gdLst/>
              <a:ahLst/>
              <a:cxnLst/>
              <a:rect r="r" b="b" t="t" l="l"/>
              <a:pathLst>
                <a:path h="731520" w="8302752">
                  <a:moveTo>
                    <a:pt x="0" y="0"/>
                  </a:moveTo>
                  <a:lnTo>
                    <a:pt x="8302752" y="0"/>
                  </a:lnTo>
                  <a:lnTo>
                    <a:pt x="830275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155" r="0" b="-17115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8302752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5313A"/>
                  </a:solidFill>
                  <a:latin typeface="Aptos"/>
                  <a:ea typeface="Aptos"/>
                  <a:cs typeface="Aptos"/>
                  <a:sym typeface="Aptos"/>
                </a:rPr>
                <a:t>Aplicativo Wear OS instalado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71803" y="6862191"/>
            <a:ext cx="403098" cy="403098"/>
            <a:chOff x="0" y="0"/>
            <a:chExt cx="537464" cy="5374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E3F2E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567739" y="6929323"/>
            <a:ext cx="246888" cy="219456"/>
            <a:chOff x="0" y="0"/>
            <a:chExt cx="329184" cy="2926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9184" cy="292608"/>
            </a:xfrm>
            <a:custGeom>
              <a:avLst/>
              <a:gdLst/>
              <a:ahLst/>
              <a:cxnLst/>
              <a:rect r="r" b="b" t="t" l="l"/>
              <a:pathLst>
                <a:path h="292608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047" t="0" r="-64047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29184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87D7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✓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098548" y="6858000"/>
            <a:ext cx="6227064" cy="548640"/>
            <a:chOff x="0" y="0"/>
            <a:chExt cx="8302752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302752" cy="731520"/>
            </a:xfrm>
            <a:custGeom>
              <a:avLst/>
              <a:gdLst/>
              <a:ahLst/>
              <a:cxnLst/>
              <a:rect r="r" b="b" t="t" l="l"/>
              <a:pathLst>
                <a:path h="731520" w="8302752">
                  <a:moveTo>
                    <a:pt x="0" y="0"/>
                  </a:moveTo>
                  <a:lnTo>
                    <a:pt x="8302752" y="0"/>
                  </a:lnTo>
                  <a:lnTo>
                    <a:pt x="830275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155" r="0" b="-17115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302752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5313A"/>
                  </a:solidFill>
                  <a:latin typeface="Aptos"/>
                  <a:ea typeface="Aptos"/>
                  <a:cs typeface="Aptos"/>
                  <a:sym typeface="Aptos"/>
                </a:rPr>
                <a:t>Acelerômetro X / Y / Z em tempo real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79508" y="3734181"/>
            <a:ext cx="6912864" cy="411480"/>
            <a:chOff x="0" y="0"/>
            <a:chExt cx="9217152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217152" cy="548640"/>
            </a:xfrm>
            <a:custGeom>
              <a:avLst/>
              <a:gdLst/>
              <a:ahLst/>
              <a:cxnLst/>
              <a:rect r="r" b="b" t="t" l="l"/>
              <a:pathLst>
                <a:path h="548640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348" r="0" b="-27734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9217152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89">
                  <a:solidFill>
                    <a:srgbClr val="B9E5D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VALIDAÇÃO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38428" y="9093708"/>
            <a:ext cx="16047720" cy="274320"/>
            <a:chOff x="0" y="0"/>
            <a:chExt cx="21396960" cy="3657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396961" cy="365760"/>
            </a:xfrm>
            <a:custGeom>
              <a:avLst/>
              <a:gdLst/>
              <a:ahLst/>
              <a:cxnLst/>
              <a:rect r="r" b="b" t="t" l="l"/>
              <a:pathLst>
                <a:path h="3657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9874" r="0" b="-108987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1396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i="true">
                  <a:solidFill>
                    <a:srgbClr val="61747A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Objetivo final: classificar atividades sem processamento na nuvem.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773400" y="9806940"/>
            <a:ext cx="1508760" cy="262305"/>
            <a:chOff x="0" y="0"/>
            <a:chExt cx="2011680" cy="3497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11680" cy="349740"/>
            </a:xfrm>
            <a:custGeom>
              <a:avLst/>
              <a:gdLst/>
              <a:ahLst/>
              <a:cxnLst/>
              <a:rect r="r" b="b" t="t" l="l"/>
              <a:pathLst>
                <a:path h="3497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349740"/>
                  </a:lnTo>
                  <a:lnTo>
                    <a:pt x="0" y="349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244" r="0" b="-5390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011680" cy="349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09"/>
                </a:lnSpc>
              </a:pPr>
              <a:r>
                <a:rPr lang="en-US" sz="1425" b="true">
                  <a:solidFill>
                    <a:srgbClr val="61747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13 / 14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7F8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94659" y="4649724"/>
            <a:ext cx="2898682" cy="987552"/>
            <a:chOff x="0" y="0"/>
            <a:chExt cx="386491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64910" cy="1316736"/>
            </a:xfrm>
            <a:custGeom>
              <a:avLst/>
              <a:gdLst/>
              <a:ahLst/>
              <a:cxnLst/>
              <a:rect r="r" b="b" t="t" l="l"/>
              <a:pathLst>
                <a:path h="1316736" w="3864910">
                  <a:moveTo>
                    <a:pt x="0" y="0"/>
                  </a:moveTo>
                  <a:lnTo>
                    <a:pt x="3864910" y="0"/>
                  </a:lnTo>
                  <a:lnTo>
                    <a:pt x="386491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984" r="-455987" b="-2679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86491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59"/>
                </a:lnSpc>
              </a:pPr>
              <a:r>
                <a:rPr lang="en-US" sz="5049" b="true">
                  <a:solidFill>
                    <a:srgbClr val="15313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Obrigado!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DAHXcvg2xCs</dc:identifier>
  <dcterms:modified xsi:type="dcterms:W3CDTF">2011-08-01T06:04:30Z</dcterms:modified>
  <cp:revision>1</cp:revision>
  <dc:title>Apresentação Emb</dc:title>
</cp:coreProperties>
</file>